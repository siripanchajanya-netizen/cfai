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sldIdLst>
    <p:sldId id="256" r:id="rId2"/>
    <p:sldId id="257" r:id="rId3"/>
    <p:sldId id="258" r:id="rId4"/>
    <p:sldId id="259" r:id="rId5"/>
    <p:sldId id="260" r:id="rId6"/>
    <p:sldId id="262" r:id="rId7"/>
    <p:sldId id="266" r:id="rId8"/>
    <p:sldId id="264" r:id="rId9"/>
    <p:sldId id="26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8CEB2A-8138-7CAD-5F0C-27AF39D971B7}" v="2" dt="2026-06-02T02:59:48.854"/>
    <p1510:client id="{7107F3F3-0355-C6BF-1F31-80DE845ADCDE}" v="34" dt="2026-06-02T07:04:31.926"/>
    <p1510:client id="{ACA16267-74D2-92DC-7DE3-F631E6BB6F4B}" v="344" dt="2026-05-31T10:00:31.4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dirty="0"/>
              <a:t>Click to edit Master title style</a:t>
            </a:r>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6/1/2026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9446222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6/1/2026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5057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dirty="0"/>
              <a:t>Click to edit Master title style</a:t>
            </a:r>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014115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6/1/2026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54439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hasCustomPrompt="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hasCustomPrompt="1"/>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6/1/2026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5161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6/1/2026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089806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6/1/2026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033687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dirty="0"/>
              <a:t>Click to edit Master title style</a:t>
            </a:r>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87207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dirty="0"/>
              <a:t>Click to edit Master title style</a:t>
            </a:r>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20460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dirty="0"/>
              <a:t>Click to edit Master title style</a:t>
            </a:r>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965522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dirty="0"/>
              <a:t>Click to edit Master title style</a:t>
            </a:r>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198123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358442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dirty="0"/>
              <a:t>Click to edit Master title style</a:t>
            </a:r>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807352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1076172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dirty="0"/>
              <a:t>Click to edit Master title style</a:t>
            </a:r>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980845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6/1/2026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dirty="0"/>
              <a:t>Click to edit Master title style</a:t>
            </a:r>
          </a:p>
        </p:txBody>
      </p:sp>
    </p:spTree>
    <p:extLst>
      <p:ext uri="{BB962C8B-B14F-4D97-AF65-F5344CB8AC3E}">
        <p14:creationId xmlns:p14="http://schemas.microsoft.com/office/powerpoint/2010/main" val="30409105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6/1/2026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640788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6/1/2026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4201579107"/>
      </p:ext>
    </p:extLst>
  </p:cSld>
  <p:clrMap bg1="dk1" tx1="lt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4999" y="1964267"/>
            <a:ext cx="8616219" cy="2421464"/>
          </a:xfrm>
        </p:spPr>
        <p:txBody>
          <a:bodyPr/>
          <a:lstStyle/>
          <a:p>
            <a:pPr algn="l"/>
            <a:r>
              <a:rPr lang="en-US">
                <a:latin typeface="-webkit-standard"/>
              </a:rPr>
              <a:t>Automated University</a:t>
            </a:r>
            <a:r>
              <a:rPr lang="en-US">
                <a:solidFill>
                  <a:srgbClr val="000000"/>
                </a:solidFill>
                <a:latin typeface="-webkit-standard"/>
              </a:rPr>
              <a:t> </a:t>
            </a:r>
            <a:r>
              <a:rPr lang="en-US">
                <a:latin typeface="-webkit-standard"/>
              </a:rPr>
              <a:t>Timetable </a:t>
            </a:r>
            <a:r>
              <a:rPr lang="en-US" dirty="0">
                <a:latin typeface="-webkit-standard"/>
              </a:rPr>
              <a:t>Generation System</a:t>
            </a:r>
            <a:endParaRPr lang="en-US">
              <a:latin typeface="-webkit-standard"/>
              <a:ea typeface="Calibri Light" panose="020F0302020204030204"/>
              <a:cs typeface="Calibri Light" panose="020F0302020204030204"/>
            </a:endParaRPr>
          </a:p>
        </p:txBody>
      </p:sp>
      <p:sp>
        <p:nvSpPr>
          <p:cNvPr id="3" name="Subtitle 2"/>
          <p:cNvSpPr>
            <a:spLocks noGrp="1"/>
          </p:cNvSpPr>
          <p:nvPr>
            <p:ph type="subTitle" idx="1"/>
          </p:nvPr>
        </p:nvSpPr>
        <p:spPr>
          <a:xfrm>
            <a:off x="4736122" y="4678809"/>
            <a:ext cx="7197726" cy="1405467"/>
          </a:xfrm>
        </p:spPr>
        <p:txBody>
          <a:bodyPr/>
          <a:lstStyle/>
          <a:p>
            <a:r>
              <a:rPr lang="en-US" dirty="0">
                <a:ea typeface="Calibri"/>
                <a:cs typeface="Calibri"/>
              </a:rPr>
              <a:t>Team </a:t>
            </a:r>
            <a:r>
              <a:rPr lang="en-US">
                <a:ea typeface="Calibri"/>
                <a:cs typeface="Calibri"/>
              </a:rPr>
              <a:t>members</a:t>
            </a:r>
            <a:endParaRPr lang="en-US" dirty="0" err="1">
              <a:ea typeface="Calibri"/>
              <a:cs typeface="Calibri"/>
            </a:endParaRPr>
          </a:p>
          <a:p>
            <a:r>
              <a:rPr lang="en-US">
                <a:ea typeface="Calibri"/>
                <a:cs typeface="Calibri"/>
              </a:rPr>
              <a:t>2520030485-M.Geethika</a:t>
            </a:r>
            <a:endParaRPr lang="en-US" dirty="0">
              <a:ea typeface="Calibri"/>
              <a:cs typeface="Calibri"/>
            </a:endParaRPr>
          </a:p>
          <a:p>
            <a:r>
              <a:rPr lang="en-US" dirty="0">
                <a:ea typeface="Calibri"/>
                <a:cs typeface="Calibri"/>
              </a:rPr>
              <a:t>2520030309-Nuguri </a:t>
            </a:r>
            <a:r>
              <a:rPr lang="en-US" dirty="0" err="1">
                <a:ea typeface="Calibri"/>
                <a:cs typeface="Calibri"/>
              </a:rPr>
              <a:t>siri</a:t>
            </a:r>
            <a:endParaRPr lang="en-US">
              <a:ea typeface="Calibri"/>
              <a:cs typeface="Calibri"/>
            </a:endParaRPr>
          </a:p>
        </p:txBody>
      </p:sp>
      <p:sp>
        <p:nvSpPr>
          <p:cNvPr id="4" name="TextBox 3">
            <a:extLst>
              <a:ext uri="{FF2B5EF4-FFF2-40B4-BE49-F238E27FC236}">
                <a16:creationId xmlns:a16="http://schemas.microsoft.com/office/drawing/2014/main" id="{47884EA8-CBC8-2C44-F9FF-EB5AAA41A356}"/>
              </a:ext>
            </a:extLst>
          </p:cNvPr>
          <p:cNvSpPr txBox="1"/>
          <p:nvPr/>
        </p:nvSpPr>
        <p:spPr>
          <a:xfrm>
            <a:off x="446048" y="5030439"/>
            <a:ext cx="320907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GUIDE NAME: </a:t>
            </a: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85E5A-CE25-2B19-E617-FD72119534E0}"/>
              </a:ext>
            </a:extLst>
          </p:cNvPr>
          <p:cNvSpPr>
            <a:spLocks noGrp="1"/>
          </p:cNvSpPr>
          <p:nvPr>
            <p:ph type="title"/>
          </p:nvPr>
        </p:nvSpPr>
        <p:spPr/>
        <p:txBody>
          <a:bodyPr/>
          <a:lstStyle/>
          <a:p>
            <a:r>
              <a:rPr lang="en-US">
                <a:ea typeface="Calibri Light"/>
                <a:cs typeface="Calibri Light"/>
              </a:rPr>
              <a:t>ABSTRACT</a:t>
            </a:r>
            <a:endParaRPr lang="en-US"/>
          </a:p>
        </p:txBody>
      </p:sp>
      <p:sp>
        <p:nvSpPr>
          <p:cNvPr id="3" name="Content Placeholder 2">
            <a:extLst>
              <a:ext uri="{FF2B5EF4-FFF2-40B4-BE49-F238E27FC236}">
                <a16:creationId xmlns:a16="http://schemas.microsoft.com/office/drawing/2014/main" id="{7989C25F-8F27-A64C-70AA-7BB1E730DEF0}"/>
              </a:ext>
            </a:extLst>
          </p:cNvPr>
          <p:cNvSpPr>
            <a:spLocks noGrp="1"/>
          </p:cNvSpPr>
          <p:nvPr>
            <p:ph idx="1"/>
          </p:nvPr>
        </p:nvSpPr>
        <p:spPr>
          <a:xfrm>
            <a:off x="685801" y="2086312"/>
            <a:ext cx="10131425" cy="3085376"/>
          </a:xfrm>
        </p:spPr>
        <p:txBody>
          <a:bodyPr>
            <a:normAutofit/>
          </a:bodyPr>
          <a:lstStyle/>
          <a:p>
            <a:pPr marL="0" indent="0">
              <a:buNone/>
            </a:pPr>
            <a:endParaRPr lang="en-US" dirty="0">
              <a:solidFill>
                <a:srgbClr val="000000"/>
              </a:solidFill>
              <a:ea typeface="Calibri" panose="020F0502020204030204"/>
              <a:cs typeface="Calibri" panose="020F0502020204030204"/>
            </a:endParaRPr>
          </a:p>
          <a:p>
            <a:pPr>
              <a:buClr>
                <a:srgbClr val="FFFFFF"/>
              </a:buClr>
            </a:pPr>
            <a:r>
              <a:rPr lang="en-US" dirty="0">
                <a:ea typeface="+mn-lt"/>
                <a:cs typeface="+mn-lt"/>
              </a:rPr>
              <a:t>The University Timetable Generator is an automated system designed to create efficient and conflict-free academic schedules for universities. It reduces the time and effort required for manual timetable preparation by automatically assigning subjects, faculty members, classrooms, and time slots based on predefined constraints. The system ensures optimal resource utilization, minimizes scheduling conflicts, and provides a user-friendly interface for timetable management. By improving accuracy and flexibility, the University Timetable Generator helps educational institutions streamline their scheduling process and enhance overall academic administration.</a:t>
            </a:r>
            <a:endParaRPr lang="en-US" dirty="0"/>
          </a:p>
          <a:p>
            <a:pPr>
              <a:buClr>
                <a:srgbClr val="FFFFFF"/>
              </a:buClr>
            </a:pPr>
            <a:endParaRPr lang="en-US" dirty="0">
              <a:ea typeface="Calibri"/>
              <a:cs typeface="Calibri"/>
            </a:endParaRPr>
          </a:p>
        </p:txBody>
      </p:sp>
    </p:spTree>
    <p:extLst>
      <p:ext uri="{BB962C8B-B14F-4D97-AF65-F5344CB8AC3E}">
        <p14:creationId xmlns:p14="http://schemas.microsoft.com/office/powerpoint/2010/main" val="2156815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96775-918D-48C2-7ADF-9A29218B9E5E}"/>
              </a:ext>
            </a:extLst>
          </p:cNvPr>
          <p:cNvSpPr>
            <a:spLocks noGrp="1"/>
          </p:cNvSpPr>
          <p:nvPr>
            <p:ph type="title"/>
          </p:nvPr>
        </p:nvSpPr>
        <p:spPr/>
        <p:txBody>
          <a:bodyPr/>
          <a:lstStyle/>
          <a:p>
            <a:r>
              <a:rPr lang="en-US">
                <a:ea typeface="Calibri Light"/>
                <a:cs typeface="Calibri Light"/>
              </a:rPr>
              <a:t>Problem Statement</a:t>
            </a:r>
            <a:endParaRPr lang="en-US"/>
          </a:p>
        </p:txBody>
      </p:sp>
      <p:sp>
        <p:nvSpPr>
          <p:cNvPr id="3" name="Content Placeholder 2">
            <a:extLst>
              <a:ext uri="{FF2B5EF4-FFF2-40B4-BE49-F238E27FC236}">
                <a16:creationId xmlns:a16="http://schemas.microsoft.com/office/drawing/2014/main" id="{0C1DE39B-065E-5E3F-E2B0-49F5AE3400EA}"/>
              </a:ext>
            </a:extLst>
          </p:cNvPr>
          <p:cNvSpPr>
            <a:spLocks noGrp="1"/>
          </p:cNvSpPr>
          <p:nvPr>
            <p:ph idx="1"/>
          </p:nvPr>
        </p:nvSpPr>
        <p:spPr>
          <a:xfrm>
            <a:off x="685801" y="2083452"/>
            <a:ext cx="10131425" cy="3080564"/>
          </a:xfrm>
        </p:spPr>
        <p:txBody>
          <a:bodyPr/>
          <a:lstStyle/>
          <a:p>
            <a:r>
              <a:rPr lang="en-US" dirty="0">
                <a:ea typeface="+mn-lt"/>
                <a:cs typeface="+mn-lt"/>
              </a:rPr>
              <a:t>Creating university timetables manually is a complex and time-consuming task that often leads to scheduling conflicts, inefficient utilization of classrooms and faculty, and frequent errors. Managing multiple courses, departments, faculty availability, and classroom constraints makes the process difficult and prone to inconsistencies. There is a need for an automated system that can generate accurate, conflict-free, and optimized timetables while reducing manual effort and improving scheduling efficiency.</a:t>
            </a:r>
            <a:endParaRPr lang="en-US" dirty="0">
              <a:ea typeface="Calibri"/>
              <a:cs typeface="Calibri"/>
            </a:endParaRPr>
          </a:p>
          <a:p>
            <a:pPr>
              <a:buClr>
                <a:srgbClr val="FFFFFF"/>
              </a:buClr>
            </a:pPr>
            <a:endParaRPr lang="en-US" dirty="0">
              <a:ea typeface="Calibri"/>
              <a:cs typeface="Calibri"/>
            </a:endParaRPr>
          </a:p>
        </p:txBody>
      </p:sp>
    </p:spTree>
    <p:extLst>
      <p:ext uri="{BB962C8B-B14F-4D97-AF65-F5344CB8AC3E}">
        <p14:creationId xmlns:p14="http://schemas.microsoft.com/office/powerpoint/2010/main" val="3515222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5F832-DF8C-0752-388B-C4E06D7B1DA1}"/>
              </a:ext>
            </a:extLst>
          </p:cNvPr>
          <p:cNvSpPr>
            <a:spLocks noGrp="1"/>
          </p:cNvSpPr>
          <p:nvPr>
            <p:ph type="title"/>
          </p:nvPr>
        </p:nvSpPr>
        <p:spPr/>
        <p:txBody>
          <a:bodyPr/>
          <a:lstStyle/>
          <a:p>
            <a:r>
              <a:rPr lang="en-US">
                <a:ea typeface="Calibri Light"/>
                <a:cs typeface="Calibri Light"/>
              </a:rPr>
              <a:t>Hardware requirements</a:t>
            </a:r>
            <a:endParaRPr lang="en-US" err="1"/>
          </a:p>
        </p:txBody>
      </p:sp>
      <p:sp>
        <p:nvSpPr>
          <p:cNvPr id="3" name="Content Placeholder 2">
            <a:extLst>
              <a:ext uri="{FF2B5EF4-FFF2-40B4-BE49-F238E27FC236}">
                <a16:creationId xmlns:a16="http://schemas.microsoft.com/office/drawing/2014/main" id="{4041EAB9-047D-451A-6B8F-1573046D87DB}"/>
              </a:ext>
            </a:extLst>
          </p:cNvPr>
          <p:cNvSpPr>
            <a:spLocks noGrp="1"/>
          </p:cNvSpPr>
          <p:nvPr>
            <p:ph idx="1"/>
          </p:nvPr>
        </p:nvSpPr>
        <p:spPr/>
        <p:txBody>
          <a:bodyPr/>
          <a:lstStyle/>
          <a:p>
            <a:r>
              <a:rPr lang="en-US" b="1">
                <a:ea typeface="+mn-lt"/>
                <a:cs typeface="+mn-lt"/>
              </a:rPr>
              <a:t>Processor:</a:t>
            </a:r>
            <a:r>
              <a:rPr lang="en-US">
                <a:ea typeface="+mn-lt"/>
                <a:cs typeface="+mn-lt"/>
              </a:rPr>
              <a:t> Intel Core i3 (or equivalent)</a:t>
            </a:r>
            <a:endParaRPr lang="en-US">
              <a:ea typeface="Calibri" panose="020F0502020204030204"/>
              <a:cs typeface="Calibri" panose="020F0502020204030204"/>
            </a:endParaRPr>
          </a:p>
          <a:p>
            <a:pPr>
              <a:buClr>
                <a:srgbClr val="FFFFFF"/>
              </a:buClr>
            </a:pPr>
            <a:r>
              <a:rPr lang="en-US" b="1">
                <a:ea typeface="+mn-lt"/>
                <a:cs typeface="+mn-lt"/>
              </a:rPr>
              <a:t>RAM:</a:t>
            </a:r>
            <a:r>
              <a:rPr lang="en-US">
                <a:ea typeface="+mn-lt"/>
                <a:cs typeface="+mn-lt"/>
              </a:rPr>
              <a:t> 4 GB</a:t>
            </a:r>
            <a:endParaRPr lang="en-US">
              <a:ea typeface="Calibri"/>
              <a:cs typeface="Calibri"/>
            </a:endParaRPr>
          </a:p>
          <a:p>
            <a:pPr>
              <a:buClr>
                <a:srgbClr val="FFFFFF"/>
              </a:buClr>
            </a:pPr>
            <a:r>
              <a:rPr lang="en-US" b="1">
                <a:ea typeface="+mn-lt"/>
                <a:cs typeface="+mn-lt"/>
              </a:rPr>
              <a:t>Storage:</a:t>
            </a:r>
            <a:r>
              <a:rPr lang="en-US">
                <a:ea typeface="+mn-lt"/>
                <a:cs typeface="+mn-lt"/>
              </a:rPr>
              <a:t> 20 GB free disk space</a:t>
            </a:r>
            <a:endParaRPr lang="en-US">
              <a:ea typeface="Calibri"/>
              <a:cs typeface="Calibri"/>
            </a:endParaRPr>
          </a:p>
          <a:p>
            <a:pPr>
              <a:buClr>
                <a:srgbClr val="FFFFFF"/>
              </a:buClr>
            </a:pPr>
            <a:r>
              <a:rPr lang="en-US" b="1">
                <a:ea typeface="+mn-lt"/>
                <a:cs typeface="+mn-lt"/>
              </a:rPr>
              <a:t>Display:</a:t>
            </a:r>
            <a:r>
              <a:rPr lang="en-US">
                <a:ea typeface="+mn-lt"/>
                <a:cs typeface="+mn-lt"/>
              </a:rPr>
              <a:t> 1366 × 768 resolution monitor</a:t>
            </a:r>
            <a:endParaRPr lang="en-US">
              <a:ea typeface="Calibri"/>
              <a:cs typeface="Calibri"/>
            </a:endParaRPr>
          </a:p>
          <a:p>
            <a:pPr>
              <a:buClr>
                <a:srgbClr val="FFFFFF"/>
              </a:buClr>
            </a:pPr>
            <a:r>
              <a:rPr lang="en-US" b="1">
                <a:ea typeface="+mn-lt"/>
                <a:cs typeface="+mn-lt"/>
              </a:rPr>
              <a:t>Keyboard and Mouse</a:t>
            </a:r>
            <a:endParaRPr lang="en-US">
              <a:ea typeface="Calibri"/>
              <a:cs typeface="Calibri"/>
            </a:endParaRPr>
          </a:p>
          <a:p>
            <a:pPr>
              <a:buClr>
                <a:srgbClr val="FFFFFF"/>
              </a:buClr>
            </a:pPr>
            <a:r>
              <a:rPr lang="en-US" b="1">
                <a:ea typeface="+mn-lt"/>
                <a:cs typeface="+mn-lt"/>
              </a:rPr>
              <a:t>Internet Connection</a:t>
            </a:r>
            <a:r>
              <a:rPr lang="en-US">
                <a:ea typeface="+mn-lt"/>
                <a:cs typeface="+mn-lt"/>
              </a:rPr>
              <a:t> (for installing dependencies and updates)</a:t>
            </a:r>
            <a:endParaRPr lang="en-US"/>
          </a:p>
          <a:p>
            <a:pPr>
              <a:buClr>
                <a:srgbClr val="FFFFFF"/>
              </a:buClr>
            </a:pPr>
            <a:endParaRPr lang="en-US" dirty="0">
              <a:ea typeface="Calibri"/>
              <a:cs typeface="Calibri"/>
            </a:endParaRPr>
          </a:p>
        </p:txBody>
      </p:sp>
    </p:spTree>
    <p:extLst>
      <p:ext uri="{BB962C8B-B14F-4D97-AF65-F5344CB8AC3E}">
        <p14:creationId xmlns:p14="http://schemas.microsoft.com/office/powerpoint/2010/main" val="4038596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300C1-8701-1C73-5B25-1B5C157A6A94}"/>
              </a:ext>
            </a:extLst>
          </p:cNvPr>
          <p:cNvSpPr>
            <a:spLocks noGrp="1"/>
          </p:cNvSpPr>
          <p:nvPr>
            <p:ph type="title"/>
          </p:nvPr>
        </p:nvSpPr>
        <p:spPr/>
        <p:txBody>
          <a:bodyPr/>
          <a:lstStyle/>
          <a:p>
            <a:r>
              <a:rPr lang="en-US" dirty="0">
                <a:ea typeface="Calibri Light"/>
                <a:cs typeface="Calibri Light"/>
              </a:rPr>
              <a:t>Software </a:t>
            </a:r>
            <a:r>
              <a:rPr lang="en-US">
                <a:ea typeface="Calibri Light"/>
                <a:cs typeface="Calibri Light"/>
              </a:rPr>
              <a:t>requirements</a:t>
            </a:r>
            <a:endParaRPr lang="en-US"/>
          </a:p>
        </p:txBody>
      </p:sp>
      <p:sp>
        <p:nvSpPr>
          <p:cNvPr id="3" name="Content Placeholder 2">
            <a:extLst>
              <a:ext uri="{FF2B5EF4-FFF2-40B4-BE49-F238E27FC236}">
                <a16:creationId xmlns:a16="http://schemas.microsoft.com/office/drawing/2014/main" id="{E3DD5DCC-73B6-0CB9-C58E-65524D188806}"/>
              </a:ext>
            </a:extLst>
          </p:cNvPr>
          <p:cNvSpPr>
            <a:spLocks noGrp="1"/>
          </p:cNvSpPr>
          <p:nvPr>
            <p:ph idx="1"/>
          </p:nvPr>
        </p:nvSpPr>
        <p:spPr>
          <a:xfrm>
            <a:off x="574432" y="2065867"/>
            <a:ext cx="10242794" cy="4088748"/>
          </a:xfrm>
        </p:spPr>
        <p:txBody>
          <a:bodyPr>
            <a:normAutofit lnSpcReduction="10000"/>
          </a:bodyPr>
          <a:lstStyle/>
          <a:p>
            <a:r>
              <a:rPr lang="en-US" b="1"/>
              <a:t>Development Tools</a:t>
            </a:r>
            <a:endParaRPr lang="en-US" b="1">
              <a:ea typeface="Calibri" panose="020F0502020204030204"/>
              <a:cs typeface="Calibri" panose="020F0502020204030204"/>
            </a:endParaRPr>
          </a:p>
          <a:p>
            <a:pPr>
              <a:buClr>
                <a:srgbClr val="FFFFFF"/>
              </a:buClr>
            </a:pPr>
            <a:r>
              <a:rPr lang="en-US" b="1">
                <a:ea typeface="+mn-lt"/>
                <a:cs typeface="+mn-lt"/>
              </a:rPr>
              <a:t>Python 3.10+</a:t>
            </a:r>
            <a:endParaRPr lang="en-US">
              <a:ea typeface="Calibri"/>
              <a:cs typeface="Calibri"/>
            </a:endParaRPr>
          </a:p>
          <a:p>
            <a:pPr>
              <a:buClr>
                <a:srgbClr val="FFFFFF"/>
              </a:buClr>
            </a:pPr>
            <a:r>
              <a:rPr lang="en-US" b="1">
                <a:ea typeface="+mn-lt"/>
                <a:cs typeface="+mn-lt"/>
              </a:rPr>
              <a:t>Flask</a:t>
            </a:r>
            <a:endParaRPr lang="en-US">
              <a:ea typeface="Calibri"/>
              <a:cs typeface="Calibri"/>
            </a:endParaRPr>
          </a:p>
          <a:p>
            <a:pPr>
              <a:buClr>
                <a:srgbClr val="FFFFFF"/>
              </a:buClr>
            </a:pPr>
            <a:r>
              <a:rPr lang="en-US" b="1">
                <a:ea typeface="+mn-lt"/>
                <a:cs typeface="+mn-lt"/>
              </a:rPr>
              <a:t>React.js</a:t>
            </a:r>
            <a:endParaRPr lang="en-US">
              <a:ea typeface="Calibri"/>
              <a:cs typeface="Calibri"/>
            </a:endParaRPr>
          </a:p>
          <a:p>
            <a:pPr>
              <a:buClr>
                <a:srgbClr val="FFFFFF"/>
              </a:buClr>
            </a:pPr>
            <a:r>
              <a:rPr lang="en-US" b="1" dirty="0">
                <a:ea typeface="+mn-lt"/>
                <a:cs typeface="+mn-lt"/>
              </a:rPr>
              <a:t>Node.js &amp; </a:t>
            </a:r>
            <a:r>
              <a:rPr lang="en-US" b="1" dirty="0" err="1">
                <a:ea typeface="+mn-lt"/>
                <a:cs typeface="+mn-lt"/>
              </a:rPr>
              <a:t>npm</a:t>
            </a:r>
            <a:endParaRPr lang="en-US" dirty="0" err="1">
              <a:ea typeface="Calibri"/>
              <a:cs typeface="Calibri"/>
            </a:endParaRPr>
          </a:p>
          <a:p>
            <a:pPr>
              <a:buClr>
                <a:srgbClr val="FFFFFF"/>
              </a:buClr>
            </a:pPr>
            <a:r>
              <a:rPr lang="en-US" b="1">
                <a:ea typeface="+mn-lt"/>
                <a:cs typeface="+mn-lt"/>
              </a:rPr>
              <a:t>Visual Studio Code</a:t>
            </a:r>
            <a:endParaRPr lang="en-US">
              <a:ea typeface="Calibri"/>
              <a:cs typeface="Calibri"/>
            </a:endParaRPr>
          </a:p>
          <a:p>
            <a:pPr>
              <a:buClr>
                <a:srgbClr val="FFFFFF"/>
              </a:buClr>
            </a:pPr>
            <a:r>
              <a:rPr lang="en-US" b="1">
                <a:ea typeface="+mn-lt"/>
                <a:cs typeface="+mn-lt"/>
              </a:rPr>
              <a:t>MySQL</a:t>
            </a:r>
            <a:endParaRPr lang="en-US">
              <a:ea typeface="Calibri"/>
              <a:cs typeface="Calibri"/>
            </a:endParaRPr>
          </a:p>
          <a:p>
            <a:pPr>
              <a:buClr>
                <a:srgbClr val="FFFFFF"/>
              </a:buClr>
            </a:pPr>
            <a:r>
              <a:rPr lang="en-US" b="1">
                <a:ea typeface="+mn-lt"/>
                <a:cs typeface="+mn-lt"/>
              </a:rPr>
              <a:t>HTML</a:t>
            </a:r>
            <a:endParaRPr lang="en-US">
              <a:ea typeface="Calibri"/>
              <a:cs typeface="Calibri"/>
            </a:endParaRPr>
          </a:p>
          <a:p>
            <a:pPr>
              <a:buClr>
                <a:srgbClr val="FFFFFF"/>
              </a:buClr>
            </a:pPr>
            <a:r>
              <a:rPr lang="en-US" b="1">
                <a:ea typeface="+mn-lt"/>
                <a:cs typeface="+mn-lt"/>
              </a:rPr>
              <a:t>CSS</a:t>
            </a:r>
            <a:endParaRPr lang="en-US">
              <a:ea typeface="Calibri"/>
              <a:cs typeface="Calibri"/>
            </a:endParaRPr>
          </a:p>
          <a:p>
            <a:pPr>
              <a:buClr>
                <a:srgbClr val="FFFFFF"/>
              </a:buClr>
            </a:pPr>
            <a:r>
              <a:rPr lang="en-US" b="1">
                <a:ea typeface="+mn-lt"/>
                <a:cs typeface="+mn-lt"/>
              </a:rPr>
              <a:t>JavaScript</a:t>
            </a:r>
            <a:endParaRPr lang="en-US"/>
          </a:p>
          <a:p>
            <a:pPr>
              <a:buClr>
                <a:srgbClr val="FFFFFF"/>
              </a:buClr>
            </a:pPr>
            <a:endParaRPr lang="en-US" dirty="0">
              <a:ea typeface="Calibri"/>
              <a:cs typeface="Calibri"/>
            </a:endParaRPr>
          </a:p>
          <a:p>
            <a:pPr>
              <a:buClr>
                <a:srgbClr val="FFFFFF"/>
              </a:buClr>
            </a:pPr>
            <a:endParaRPr lang="en-US" dirty="0">
              <a:ea typeface="Calibri"/>
              <a:cs typeface="Calibri"/>
            </a:endParaRPr>
          </a:p>
        </p:txBody>
      </p:sp>
    </p:spTree>
    <p:extLst>
      <p:ext uri="{BB962C8B-B14F-4D97-AF65-F5344CB8AC3E}">
        <p14:creationId xmlns:p14="http://schemas.microsoft.com/office/powerpoint/2010/main" val="4274735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6A6A1-9CED-1750-33D8-18984913EE91}"/>
              </a:ext>
            </a:extLst>
          </p:cNvPr>
          <p:cNvSpPr>
            <a:spLocks noGrp="1"/>
          </p:cNvSpPr>
          <p:nvPr>
            <p:ph type="title"/>
          </p:nvPr>
        </p:nvSpPr>
        <p:spPr/>
        <p:txBody>
          <a:bodyPr/>
          <a:lstStyle/>
          <a:p>
            <a:r>
              <a:rPr lang="en-US">
                <a:ea typeface="Calibri Light"/>
                <a:cs typeface="Calibri Light"/>
              </a:rPr>
              <a:t>Existing system</a:t>
            </a:r>
            <a:endParaRPr lang="en-US"/>
          </a:p>
        </p:txBody>
      </p:sp>
      <p:sp>
        <p:nvSpPr>
          <p:cNvPr id="3" name="Content Placeholder 2">
            <a:extLst>
              <a:ext uri="{FF2B5EF4-FFF2-40B4-BE49-F238E27FC236}">
                <a16:creationId xmlns:a16="http://schemas.microsoft.com/office/drawing/2014/main" id="{330B899F-7757-D4D8-C51C-3FB538568EDB}"/>
              </a:ext>
            </a:extLst>
          </p:cNvPr>
          <p:cNvSpPr>
            <a:spLocks noGrp="1"/>
          </p:cNvSpPr>
          <p:nvPr>
            <p:ph idx="1"/>
          </p:nvPr>
        </p:nvSpPr>
        <p:spPr>
          <a:xfrm>
            <a:off x="685801" y="1696590"/>
            <a:ext cx="10131425" cy="4551810"/>
          </a:xfrm>
        </p:spPr>
        <p:txBody>
          <a:bodyPr>
            <a:normAutofit/>
          </a:bodyPr>
          <a:lstStyle/>
          <a:p>
            <a:pPr marL="0" indent="0">
              <a:buNone/>
            </a:pPr>
            <a:r>
              <a:rPr lang="en-US" dirty="0">
                <a:latin typeface="-webkit-standard"/>
              </a:rPr>
              <a:t>The existing timetable scheduling process in many universities is performed manually using spreadsheets, documents, or paper-based methods. Administrators create timetables by considering faculty availability, classroom allocation, and course schedules, which requires significant time and effort.</a:t>
            </a:r>
          </a:p>
          <a:p>
            <a:pPr>
              <a:buNone/>
            </a:pPr>
            <a:r>
              <a:rPr lang="en-US" b="1"/>
              <a:t>Limitations of the Existing System</a:t>
            </a:r>
            <a:endParaRPr lang="en-US" b="1">
              <a:ea typeface="Calibri"/>
              <a:cs typeface="Calibri"/>
            </a:endParaRPr>
          </a:p>
          <a:p>
            <a:pPr>
              <a:buClr>
                <a:srgbClr val="FFFFFF"/>
              </a:buClr>
            </a:pPr>
            <a:r>
              <a:rPr lang="en-US">
                <a:ea typeface="+mn-lt"/>
                <a:cs typeface="+mn-lt"/>
              </a:rPr>
              <a:t>Time-consuming timetable preparation.</a:t>
            </a:r>
            <a:endParaRPr lang="en-US">
              <a:ea typeface="Calibri"/>
              <a:cs typeface="Calibri"/>
            </a:endParaRPr>
          </a:p>
          <a:p>
            <a:pPr>
              <a:buClr>
                <a:srgbClr val="FFFFFF"/>
              </a:buClr>
            </a:pPr>
            <a:r>
              <a:rPr lang="en-US">
                <a:ea typeface="+mn-lt"/>
                <a:cs typeface="+mn-lt"/>
              </a:rPr>
              <a:t>High chances of scheduling conflicts.</a:t>
            </a:r>
            <a:endParaRPr lang="en-US">
              <a:ea typeface="Calibri"/>
              <a:cs typeface="Calibri"/>
            </a:endParaRPr>
          </a:p>
          <a:p>
            <a:pPr>
              <a:buClr>
                <a:srgbClr val="FFFFFF"/>
              </a:buClr>
            </a:pPr>
            <a:r>
              <a:rPr lang="en-US">
                <a:ea typeface="+mn-lt"/>
                <a:cs typeface="+mn-lt"/>
              </a:rPr>
              <a:t>Difficult to manage faculty and classroom availability.</a:t>
            </a:r>
            <a:endParaRPr lang="en-US">
              <a:ea typeface="Calibri"/>
              <a:cs typeface="Calibri"/>
            </a:endParaRPr>
          </a:p>
          <a:p>
            <a:pPr>
              <a:buClr>
                <a:srgbClr val="FFFFFF"/>
              </a:buClr>
            </a:pPr>
            <a:r>
              <a:rPr lang="en-US">
                <a:ea typeface="+mn-lt"/>
                <a:cs typeface="+mn-lt"/>
              </a:rPr>
              <a:t>Frequent manual errors and inconsistencies.</a:t>
            </a:r>
            <a:endParaRPr lang="en-US">
              <a:ea typeface="Calibri"/>
              <a:cs typeface="Calibri"/>
            </a:endParaRPr>
          </a:p>
          <a:p>
            <a:pPr>
              <a:buClr>
                <a:srgbClr val="FFFFFF"/>
              </a:buClr>
            </a:pPr>
            <a:r>
              <a:rPr lang="en-US">
                <a:ea typeface="+mn-lt"/>
                <a:cs typeface="+mn-lt"/>
              </a:rPr>
              <a:t>Limited flexibility for modifications and updates.</a:t>
            </a:r>
            <a:endParaRPr lang="en-US">
              <a:ea typeface="Calibri"/>
              <a:cs typeface="Calibri"/>
            </a:endParaRPr>
          </a:p>
          <a:p>
            <a:pPr>
              <a:buClr>
                <a:srgbClr val="FFFFFF"/>
              </a:buClr>
            </a:pPr>
            <a:r>
              <a:rPr lang="en-US" dirty="0">
                <a:ea typeface="+mn-lt"/>
                <a:cs typeface="+mn-lt"/>
              </a:rPr>
              <a:t>Inefficient utilization of resources.</a:t>
            </a:r>
            <a:endParaRPr lang="en-US" dirty="0">
              <a:ea typeface="Calibri"/>
              <a:cs typeface="Calibri"/>
            </a:endParaRPr>
          </a:p>
          <a:p>
            <a:pPr>
              <a:buClr>
                <a:srgbClr val="FFFFFF"/>
              </a:buClr>
            </a:pPr>
            <a:r>
              <a:rPr lang="en-US">
                <a:ea typeface="+mn-lt"/>
                <a:cs typeface="+mn-lt"/>
              </a:rPr>
              <a:t>Increased administrative workload.</a:t>
            </a:r>
            <a:endParaRPr lang="en-US"/>
          </a:p>
          <a:p>
            <a:pPr marL="0" indent="0">
              <a:buNone/>
            </a:pPr>
            <a:endParaRPr lang="en-US" dirty="0">
              <a:latin typeface="-webkit-standard"/>
              <a:ea typeface="Calibri" panose="020F0502020204030204"/>
              <a:cs typeface="Calibri" panose="020F0502020204030204"/>
            </a:endParaRPr>
          </a:p>
        </p:txBody>
      </p:sp>
    </p:spTree>
    <p:extLst>
      <p:ext uri="{BB962C8B-B14F-4D97-AF65-F5344CB8AC3E}">
        <p14:creationId xmlns:p14="http://schemas.microsoft.com/office/powerpoint/2010/main" val="32476148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of a system&#10;&#10;AI-generated content may be incorrect.">
            <a:extLst>
              <a:ext uri="{FF2B5EF4-FFF2-40B4-BE49-F238E27FC236}">
                <a16:creationId xmlns:a16="http://schemas.microsoft.com/office/drawing/2014/main" id="{ABE1BB74-E566-E049-7E20-8EF0B8BB3F0F}"/>
              </a:ext>
            </a:extLst>
          </p:cNvPr>
          <p:cNvPicPr>
            <a:picLocks noChangeAspect="1"/>
          </p:cNvPicPr>
          <p:nvPr/>
        </p:nvPicPr>
        <p:blipFill>
          <a:blip r:embed="rId2"/>
          <a:srcRect l="-312" r="55027"/>
          <a:stretch>
            <a:fillRect/>
          </a:stretch>
        </p:blipFill>
        <p:spPr>
          <a:xfrm>
            <a:off x="3411482" y="295984"/>
            <a:ext cx="4683579" cy="6259736"/>
          </a:xfrm>
          <a:prstGeom prst="rect">
            <a:avLst/>
          </a:prstGeom>
        </p:spPr>
      </p:pic>
    </p:spTree>
    <p:extLst>
      <p:ext uri="{BB962C8B-B14F-4D97-AF65-F5344CB8AC3E}">
        <p14:creationId xmlns:p14="http://schemas.microsoft.com/office/powerpoint/2010/main" val="2589912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7E01B-F9DA-C31F-BCCC-AF683618DBFC}"/>
              </a:ext>
            </a:extLst>
          </p:cNvPr>
          <p:cNvSpPr>
            <a:spLocks noGrp="1"/>
          </p:cNvSpPr>
          <p:nvPr>
            <p:ph type="title"/>
          </p:nvPr>
        </p:nvSpPr>
        <p:spPr>
          <a:xfrm>
            <a:off x="685801" y="609600"/>
            <a:ext cx="10131425" cy="1022514"/>
          </a:xfrm>
        </p:spPr>
        <p:txBody>
          <a:bodyPr/>
          <a:lstStyle/>
          <a:p>
            <a:r>
              <a:rPr lang="en-US">
                <a:ea typeface="Calibri Light"/>
                <a:cs typeface="Calibri Light"/>
              </a:rPr>
              <a:t>Proposed system</a:t>
            </a:r>
            <a:endParaRPr lang="en-US"/>
          </a:p>
        </p:txBody>
      </p:sp>
      <p:sp>
        <p:nvSpPr>
          <p:cNvPr id="3" name="Content Placeholder 2">
            <a:extLst>
              <a:ext uri="{FF2B5EF4-FFF2-40B4-BE49-F238E27FC236}">
                <a16:creationId xmlns:a16="http://schemas.microsoft.com/office/drawing/2014/main" id="{0FB0CE23-7E45-ED0A-55DF-A3D2390411AF}"/>
              </a:ext>
            </a:extLst>
          </p:cNvPr>
          <p:cNvSpPr>
            <a:spLocks noGrp="1"/>
          </p:cNvSpPr>
          <p:nvPr>
            <p:ph idx="1"/>
          </p:nvPr>
        </p:nvSpPr>
        <p:spPr>
          <a:xfrm>
            <a:off x="667740" y="1408613"/>
            <a:ext cx="10249132" cy="5138725"/>
          </a:xfrm>
        </p:spPr>
        <p:txBody>
          <a:bodyPr vert="horz" lIns="91440" tIns="45720" rIns="91440" bIns="45720" rtlCol="0" anchor="ctr">
            <a:noAutofit/>
          </a:bodyPr>
          <a:lstStyle/>
          <a:p>
            <a:r>
              <a:rPr lang="en-US" sz="1700" dirty="0">
                <a:ea typeface="+mn-lt"/>
                <a:cs typeface="+mn-lt"/>
              </a:rPr>
              <a:t>The proposed University Timetable Generator is an automated web-based application developed using React.js for the frontend and Java for the backend., classroom allocation, subject requirements, and time-slot constraints. It minimizes manual effort, reduces scheduling errors, and allows easy modification and regeneration of timetables whenever required.</a:t>
            </a:r>
            <a:endParaRPr lang="en-US" sz="1700" dirty="0">
              <a:ea typeface="Calibri" panose="020F0502020204030204"/>
              <a:cs typeface="Calibri" panose="020F0502020204030204"/>
            </a:endParaRPr>
          </a:p>
          <a:p>
            <a:pPr>
              <a:buClr>
                <a:srgbClr val="FFFFFF"/>
              </a:buClr>
            </a:pPr>
            <a:r>
              <a:rPr lang="en-US" sz="1600" b="1"/>
              <a:t>Advantages of Proposed System</a:t>
            </a:r>
            <a:endParaRPr lang="en-US" sz="1600" b="1">
              <a:ea typeface="Calibri"/>
              <a:cs typeface="Calibri"/>
            </a:endParaRPr>
          </a:p>
          <a:p>
            <a:pPr>
              <a:buClr>
                <a:srgbClr val="FFFFFF"/>
              </a:buClr>
            </a:pPr>
            <a:r>
              <a:rPr lang="en-US" sz="1600">
                <a:ea typeface="+mn-lt"/>
                <a:cs typeface="+mn-lt"/>
              </a:rPr>
              <a:t>Automated timetable generation.</a:t>
            </a:r>
            <a:endParaRPr lang="en-US" sz="1600" dirty="0">
              <a:ea typeface="Calibri"/>
              <a:cs typeface="Calibri"/>
            </a:endParaRPr>
          </a:p>
          <a:p>
            <a:pPr>
              <a:buClr>
                <a:srgbClr val="FFFFFF"/>
              </a:buClr>
            </a:pPr>
            <a:r>
              <a:rPr lang="en-US" sz="1600" dirty="0">
                <a:ea typeface="+mn-lt"/>
                <a:cs typeface="+mn-lt"/>
              </a:rPr>
              <a:t>Eliminates scheduling conflicts.</a:t>
            </a:r>
            <a:endParaRPr lang="en-US" sz="1600" dirty="0">
              <a:ea typeface="Calibri"/>
              <a:cs typeface="Calibri"/>
            </a:endParaRPr>
          </a:p>
          <a:p>
            <a:pPr>
              <a:buClr>
                <a:srgbClr val="FFFFFF"/>
              </a:buClr>
            </a:pPr>
            <a:r>
              <a:rPr lang="en-US" sz="1600">
                <a:ea typeface="+mn-lt"/>
                <a:cs typeface="+mn-lt"/>
              </a:rPr>
              <a:t>Reduces manual workload.</a:t>
            </a:r>
            <a:endParaRPr lang="en-US" sz="1600" dirty="0">
              <a:ea typeface="Calibri"/>
              <a:cs typeface="Calibri"/>
            </a:endParaRPr>
          </a:p>
          <a:p>
            <a:pPr>
              <a:buClr>
                <a:srgbClr val="FFFFFF"/>
              </a:buClr>
            </a:pPr>
            <a:r>
              <a:rPr lang="en-US" sz="1600">
                <a:ea typeface="+mn-lt"/>
                <a:cs typeface="+mn-lt"/>
              </a:rPr>
              <a:t>Saves time and effort.</a:t>
            </a:r>
            <a:endParaRPr lang="en-US" sz="1600" dirty="0">
              <a:ea typeface="Calibri"/>
              <a:cs typeface="Calibri"/>
            </a:endParaRPr>
          </a:p>
          <a:p>
            <a:pPr>
              <a:buClr>
                <a:srgbClr val="FFFFFF"/>
              </a:buClr>
            </a:pPr>
            <a:r>
              <a:rPr lang="en-US" sz="1600" dirty="0">
                <a:ea typeface="+mn-lt"/>
                <a:cs typeface="+mn-lt"/>
              </a:rPr>
              <a:t>Efficient utilization of faculty and classrooms.</a:t>
            </a:r>
            <a:endParaRPr lang="en-US" sz="1600" dirty="0">
              <a:ea typeface="Calibri"/>
              <a:cs typeface="Calibri"/>
            </a:endParaRPr>
          </a:p>
          <a:p>
            <a:pPr>
              <a:buClr>
                <a:srgbClr val="FFFFFF"/>
              </a:buClr>
            </a:pPr>
            <a:r>
              <a:rPr lang="en-US" sz="1600">
                <a:ea typeface="+mn-lt"/>
                <a:cs typeface="+mn-lt"/>
              </a:rPr>
              <a:t>Easy timetable updates and modifications.</a:t>
            </a:r>
            <a:endParaRPr lang="en-US" sz="1600" dirty="0">
              <a:ea typeface="Calibri"/>
              <a:cs typeface="Calibri"/>
            </a:endParaRPr>
          </a:p>
          <a:p>
            <a:pPr>
              <a:buClr>
                <a:srgbClr val="FFFFFF"/>
              </a:buClr>
            </a:pPr>
            <a:r>
              <a:rPr lang="en-US" sz="1600">
                <a:ea typeface="+mn-lt"/>
                <a:cs typeface="+mn-lt"/>
              </a:rPr>
              <a:t>User-friendly web interface.</a:t>
            </a:r>
            <a:endParaRPr lang="en-US" sz="1600" dirty="0">
              <a:ea typeface="+mn-lt"/>
              <a:cs typeface="+mn-lt"/>
            </a:endParaRPr>
          </a:p>
          <a:p>
            <a:pPr>
              <a:buClr>
                <a:srgbClr val="FFFFFF"/>
              </a:buClr>
            </a:pPr>
            <a:r>
              <a:rPr lang="en-US" sz="1600">
                <a:ea typeface="+mn-lt"/>
                <a:cs typeface="+mn-lt"/>
              </a:rPr>
              <a:t>Improved accuracy and reliability.</a:t>
            </a:r>
            <a:endParaRPr lang="en-US" sz="1600">
              <a:ea typeface="Calibri"/>
              <a:cs typeface="Calibri"/>
            </a:endParaRPr>
          </a:p>
          <a:p>
            <a:pPr>
              <a:buClr>
                <a:srgbClr val="FFFFFF"/>
              </a:buClr>
            </a:pPr>
            <a:endParaRPr lang="en-US" sz="1600" dirty="0">
              <a:ea typeface="Calibri"/>
              <a:cs typeface="Calibri"/>
            </a:endParaRPr>
          </a:p>
        </p:txBody>
      </p:sp>
    </p:spTree>
    <p:extLst>
      <p:ext uri="{BB962C8B-B14F-4D97-AF65-F5344CB8AC3E}">
        <p14:creationId xmlns:p14="http://schemas.microsoft.com/office/powerpoint/2010/main" val="3762200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of a system&#10;&#10;AI-generated content may be incorrect.">
            <a:extLst>
              <a:ext uri="{FF2B5EF4-FFF2-40B4-BE49-F238E27FC236}">
                <a16:creationId xmlns:a16="http://schemas.microsoft.com/office/drawing/2014/main" id="{75886077-3BFD-D534-EF62-01B8CB5F992F}"/>
              </a:ext>
            </a:extLst>
          </p:cNvPr>
          <p:cNvPicPr>
            <a:picLocks noChangeAspect="1"/>
          </p:cNvPicPr>
          <p:nvPr/>
        </p:nvPicPr>
        <p:blipFill>
          <a:blip r:embed="rId2"/>
          <a:srcRect l="45008" r="-680"/>
          <a:stretch>
            <a:fillRect/>
          </a:stretch>
        </p:blipFill>
        <p:spPr>
          <a:xfrm>
            <a:off x="3610065" y="0"/>
            <a:ext cx="5250719" cy="6858000"/>
          </a:xfrm>
          <a:prstGeom prst="rect">
            <a:avLst/>
          </a:prstGeom>
        </p:spPr>
      </p:pic>
    </p:spTree>
    <p:extLst>
      <p:ext uri="{BB962C8B-B14F-4D97-AF65-F5344CB8AC3E}">
        <p14:creationId xmlns:p14="http://schemas.microsoft.com/office/powerpoint/2010/main" val="231437159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Celestial</vt:lpstr>
      <vt:lpstr>Automated University Timetable Generation System</vt:lpstr>
      <vt:lpstr>ABSTRACT</vt:lpstr>
      <vt:lpstr>Problem Statement</vt:lpstr>
      <vt:lpstr>Hardware requirements</vt:lpstr>
      <vt:lpstr>Software requirements</vt:lpstr>
      <vt:lpstr>Existing system</vt:lpstr>
      <vt:lpstr>PowerPoint Presentation</vt:lpstr>
      <vt:lpstr>Proposed system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208</cp:revision>
  <dcterms:created xsi:type="dcterms:W3CDTF">2026-05-31T08:59:21Z</dcterms:created>
  <dcterms:modified xsi:type="dcterms:W3CDTF">2026-06-02T07:17:49Z</dcterms:modified>
</cp:coreProperties>
</file>