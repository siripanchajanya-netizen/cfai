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A16267-74D2-92DC-7DE3-F631E6BB6F4B}" v="344" dt="2026-05-31T10:00:31.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dirty="0"/>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9446222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057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dirty="0"/>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14115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54439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516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08980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33687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87207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20460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96552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9812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35844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80735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07617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980845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dirty="0"/>
              <a:t>Click to edit Master title style</a:t>
            </a:r>
          </a:p>
        </p:txBody>
      </p:sp>
    </p:spTree>
    <p:extLst>
      <p:ext uri="{BB962C8B-B14F-4D97-AF65-F5344CB8AC3E}">
        <p14:creationId xmlns:p14="http://schemas.microsoft.com/office/powerpoint/2010/main" val="3040910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40788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5/31/2026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01579107"/>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4999" y="1964267"/>
            <a:ext cx="8616219" cy="2421464"/>
          </a:xfrm>
        </p:spPr>
        <p:txBody>
          <a:bodyPr/>
          <a:lstStyle/>
          <a:p>
            <a:pPr algn="l"/>
            <a:r>
              <a:rPr lang="en-US">
                <a:latin typeface="-webkit-standard"/>
              </a:rPr>
              <a:t>Automated University</a:t>
            </a:r>
            <a:r>
              <a:rPr lang="en-US">
                <a:solidFill>
                  <a:srgbClr val="000000"/>
                </a:solidFill>
                <a:latin typeface="-webkit-standard"/>
              </a:rPr>
              <a:t> </a:t>
            </a:r>
            <a:r>
              <a:rPr lang="en-US">
                <a:latin typeface="-webkit-standard"/>
              </a:rPr>
              <a:t>Timetable </a:t>
            </a:r>
            <a:r>
              <a:rPr lang="en-US" dirty="0">
                <a:latin typeface="-webkit-standard"/>
              </a:rPr>
              <a:t>Generation System</a:t>
            </a:r>
            <a:endParaRPr lang="en-US">
              <a:latin typeface="-webkit-standard"/>
              <a:ea typeface="Calibri Light" panose="020F0302020204030204"/>
              <a:cs typeface="Calibri Light" panose="020F0302020204030204"/>
            </a:endParaRPr>
          </a:p>
        </p:txBody>
      </p:sp>
      <p:sp>
        <p:nvSpPr>
          <p:cNvPr id="3" name="Subtitle 2"/>
          <p:cNvSpPr>
            <a:spLocks noGrp="1"/>
          </p:cNvSpPr>
          <p:nvPr>
            <p:ph type="subTitle" idx="1"/>
          </p:nvPr>
        </p:nvSpPr>
        <p:spPr>
          <a:xfrm>
            <a:off x="4736122" y="4678809"/>
            <a:ext cx="7197726" cy="1405467"/>
          </a:xfrm>
        </p:spPr>
        <p:txBody>
          <a:bodyPr/>
          <a:lstStyle/>
          <a:p>
            <a:r>
              <a:rPr lang="en-US" dirty="0">
                <a:ea typeface="Calibri"/>
                <a:cs typeface="Calibri"/>
              </a:rPr>
              <a:t>Team </a:t>
            </a:r>
            <a:r>
              <a:rPr lang="en-US" dirty="0" err="1">
                <a:ea typeface="Calibri"/>
                <a:cs typeface="Calibri"/>
              </a:rPr>
              <a:t>memebers</a:t>
            </a:r>
          </a:p>
          <a:p>
            <a:r>
              <a:rPr lang="en-US">
                <a:ea typeface="Calibri"/>
                <a:cs typeface="Calibri"/>
              </a:rPr>
              <a:t>2520030485-M.Geethika</a:t>
            </a:r>
            <a:endParaRPr lang="en-US" dirty="0">
              <a:ea typeface="Calibri"/>
              <a:cs typeface="Calibri"/>
            </a:endParaRPr>
          </a:p>
          <a:p>
            <a:r>
              <a:rPr lang="en-US" dirty="0">
                <a:ea typeface="Calibri"/>
                <a:cs typeface="Calibri"/>
              </a:rPr>
              <a:t>2520030309-Nuguri </a:t>
            </a:r>
            <a:r>
              <a:rPr lang="en-US" dirty="0" err="1">
                <a:ea typeface="Calibri"/>
                <a:cs typeface="Calibri"/>
              </a:rPr>
              <a:t>siri</a:t>
            </a:r>
          </a:p>
        </p:txBody>
      </p:sp>
      <p:sp>
        <p:nvSpPr>
          <p:cNvPr id="4" name="TextBox 3">
            <a:extLst>
              <a:ext uri="{FF2B5EF4-FFF2-40B4-BE49-F238E27FC236}">
                <a16:creationId xmlns:a16="http://schemas.microsoft.com/office/drawing/2014/main" id="{47884EA8-CBC8-2C44-F9FF-EB5AAA41A356}"/>
              </a:ext>
            </a:extLst>
          </p:cNvPr>
          <p:cNvSpPr txBox="1"/>
          <p:nvPr/>
        </p:nvSpPr>
        <p:spPr>
          <a:xfrm>
            <a:off x="446048" y="5030439"/>
            <a:ext cx="3209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GUIDE NAME: </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5E5A-CE25-2B19-E617-FD72119534E0}"/>
              </a:ext>
            </a:extLst>
          </p:cNvPr>
          <p:cNvSpPr>
            <a:spLocks noGrp="1"/>
          </p:cNvSpPr>
          <p:nvPr>
            <p:ph type="title"/>
          </p:nvPr>
        </p:nvSpPr>
        <p:spPr/>
        <p:txBody>
          <a:bodyPr/>
          <a:lstStyle/>
          <a:p>
            <a:r>
              <a:rPr lang="en-US">
                <a:ea typeface="Calibri Light"/>
                <a:cs typeface="Calibri Light"/>
              </a:rPr>
              <a:t>ABSTRACT</a:t>
            </a:r>
            <a:endParaRPr lang="en-US"/>
          </a:p>
        </p:txBody>
      </p:sp>
      <p:sp>
        <p:nvSpPr>
          <p:cNvPr id="3" name="Content Placeholder 2">
            <a:extLst>
              <a:ext uri="{FF2B5EF4-FFF2-40B4-BE49-F238E27FC236}">
                <a16:creationId xmlns:a16="http://schemas.microsoft.com/office/drawing/2014/main" id="{7989C25F-8F27-A64C-70AA-7BB1E730DEF0}"/>
              </a:ext>
            </a:extLst>
          </p:cNvPr>
          <p:cNvSpPr>
            <a:spLocks noGrp="1"/>
          </p:cNvSpPr>
          <p:nvPr>
            <p:ph idx="1"/>
          </p:nvPr>
        </p:nvSpPr>
        <p:spPr>
          <a:xfrm>
            <a:off x="685801" y="2086312"/>
            <a:ext cx="10131425" cy="3085376"/>
          </a:xfrm>
        </p:spPr>
        <p:txBody>
          <a:bodyPr>
            <a:normAutofit/>
          </a:bodyPr>
          <a:lstStyle/>
          <a:p>
            <a:pPr marL="0" indent="0">
              <a:buNone/>
            </a:pPr>
            <a:endParaRPr lang="en-US" dirty="0">
              <a:solidFill>
                <a:srgbClr val="000000"/>
              </a:solidFill>
              <a:ea typeface="Calibri" panose="020F0502020204030204"/>
              <a:cs typeface="Calibri" panose="020F0502020204030204"/>
            </a:endParaRPr>
          </a:p>
          <a:p>
            <a:pPr>
              <a:buClr>
                <a:srgbClr val="FFFFFF"/>
              </a:buClr>
            </a:pPr>
            <a:r>
              <a:rPr lang="en-US" dirty="0">
                <a:ea typeface="+mn-lt"/>
                <a:cs typeface="+mn-lt"/>
              </a:rPr>
              <a:t>The University Timetable Generator is an automated system designed to create efficient and conflict-free academic schedules for universities. It reduces the time and effort required for manual timetable preparation by automatically assigning subjects, faculty members, classrooms, and time slots based on predefined constraints. The system ensures optimal resource utilization, minimizes scheduling conflicts, and provides a user-friendly interface for timetable management. By improving accuracy and flexibility, the University Timetable Generator helps educational institutions streamline their scheduling process and enhance overall academic administration.</a:t>
            </a:r>
            <a:endParaRPr lang="en-US" dirty="0"/>
          </a:p>
          <a:p>
            <a:pPr>
              <a:buClr>
                <a:srgbClr val="FFFFFF"/>
              </a:buClr>
            </a:pPr>
            <a:endParaRPr lang="en-US" dirty="0">
              <a:ea typeface="Calibri"/>
              <a:cs typeface="Calibri"/>
            </a:endParaRPr>
          </a:p>
        </p:txBody>
      </p:sp>
    </p:spTree>
    <p:extLst>
      <p:ext uri="{BB962C8B-B14F-4D97-AF65-F5344CB8AC3E}">
        <p14:creationId xmlns:p14="http://schemas.microsoft.com/office/powerpoint/2010/main" val="2156815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96775-918D-48C2-7ADF-9A29218B9E5E}"/>
              </a:ext>
            </a:extLst>
          </p:cNvPr>
          <p:cNvSpPr>
            <a:spLocks noGrp="1"/>
          </p:cNvSpPr>
          <p:nvPr>
            <p:ph type="title"/>
          </p:nvPr>
        </p:nvSpPr>
        <p:spPr/>
        <p:txBody>
          <a:bodyPr/>
          <a:lstStyle/>
          <a:p>
            <a:r>
              <a:rPr lang="en-US">
                <a:ea typeface="Calibri Light"/>
                <a:cs typeface="Calibri Light"/>
              </a:rPr>
              <a:t>Problem Statement</a:t>
            </a:r>
            <a:endParaRPr lang="en-US"/>
          </a:p>
        </p:txBody>
      </p:sp>
      <p:sp>
        <p:nvSpPr>
          <p:cNvPr id="3" name="Content Placeholder 2">
            <a:extLst>
              <a:ext uri="{FF2B5EF4-FFF2-40B4-BE49-F238E27FC236}">
                <a16:creationId xmlns:a16="http://schemas.microsoft.com/office/drawing/2014/main" id="{0C1DE39B-065E-5E3F-E2B0-49F5AE3400EA}"/>
              </a:ext>
            </a:extLst>
          </p:cNvPr>
          <p:cNvSpPr>
            <a:spLocks noGrp="1"/>
          </p:cNvSpPr>
          <p:nvPr>
            <p:ph idx="1"/>
          </p:nvPr>
        </p:nvSpPr>
        <p:spPr>
          <a:xfrm>
            <a:off x="685801" y="2083452"/>
            <a:ext cx="10131425" cy="3080564"/>
          </a:xfrm>
        </p:spPr>
        <p:txBody>
          <a:bodyPr/>
          <a:lstStyle/>
          <a:p>
            <a:r>
              <a:rPr lang="en-US" dirty="0">
                <a:ea typeface="+mn-lt"/>
                <a:cs typeface="+mn-lt"/>
              </a:rPr>
              <a:t>Creating university timetables manually is a complex and time-consuming task that often leads to scheduling conflicts, inefficient utilization of classrooms and faculty, and frequent errors. Managing multiple courses, departments, faculty availability, and classroom constraints makes the process difficult and prone to inconsistencies. There is a need for an automated system that can generate accurate, conflict-free, and optimized timetables while reducing manual effort and improving scheduling efficiency.</a:t>
            </a:r>
            <a:endParaRPr lang="en-US" dirty="0">
              <a:ea typeface="Calibri"/>
              <a:cs typeface="Calibri"/>
            </a:endParaRPr>
          </a:p>
          <a:p>
            <a:pPr>
              <a:buClr>
                <a:srgbClr val="FFFFFF"/>
              </a:buClr>
            </a:pPr>
            <a:endParaRPr lang="en-US" dirty="0">
              <a:ea typeface="Calibri"/>
              <a:cs typeface="Calibri"/>
            </a:endParaRPr>
          </a:p>
        </p:txBody>
      </p:sp>
    </p:spTree>
    <p:extLst>
      <p:ext uri="{BB962C8B-B14F-4D97-AF65-F5344CB8AC3E}">
        <p14:creationId xmlns:p14="http://schemas.microsoft.com/office/powerpoint/2010/main" val="3515222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F832-DF8C-0752-388B-C4E06D7B1DA1}"/>
              </a:ext>
            </a:extLst>
          </p:cNvPr>
          <p:cNvSpPr>
            <a:spLocks noGrp="1"/>
          </p:cNvSpPr>
          <p:nvPr>
            <p:ph type="title"/>
          </p:nvPr>
        </p:nvSpPr>
        <p:spPr/>
        <p:txBody>
          <a:bodyPr/>
          <a:lstStyle/>
          <a:p>
            <a:r>
              <a:rPr lang="en-US">
                <a:ea typeface="Calibri Light"/>
                <a:cs typeface="Calibri Light"/>
              </a:rPr>
              <a:t>Hardware requirements</a:t>
            </a:r>
            <a:endParaRPr lang="en-US" err="1"/>
          </a:p>
        </p:txBody>
      </p:sp>
      <p:sp>
        <p:nvSpPr>
          <p:cNvPr id="3" name="Content Placeholder 2">
            <a:extLst>
              <a:ext uri="{FF2B5EF4-FFF2-40B4-BE49-F238E27FC236}">
                <a16:creationId xmlns:a16="http://schemas.microsoft.com/office/drawing/2014/main" id="{4041EAB9-047D-451A-6B8F-1573046D87DB}"/>
              </a:ext>
            </a:extLst>
          </p:cNvPr>
          <p:cNvSpPr>
            <a:spLocks noGrp="1"/>
          </p:cNvSpPr>
          <p:nvPr>
            <p:ph idx="1"/>
          </p:nvPr>
        </p:nvSpPr>
        <p:spPr/>
        <p:txBody>
          <a:bodyPr/>
          <a:lstStyle/>
          <a:p>
            <a:r>
              <a:rPr lang="en-US" b="1">
                <a:ea typeface="+mn-lt"/>
                <a:cs typeface="+mn-lt"/>
              </a:rPr>
              <a:t>Processor:</a:t>
            </a:r>
            <a:r>
              <a:rPr lang="en-US">
                <a:ea typeface="+mn-lt"/>
                <a:cs typeface="+mn-lt"/>
              </a:rPr>
              <a:t> Intel Core i3 (or equivalent)</a:t>
            </a:r>
            <a:endParaRPr lang="en-US">
              <a:ea typeface="Calibri" panose="020F0502020204030204"/>
              <a:cs typeface="Calibri" panose="020F0502020204030204"/>
            </a:endParaRPr>
          </a:p>
          <a:p>
            <a:pPr>
              <a:buClr>
                <a:srgbClr val="FFFFFF"/>
              </a:buClr>
            </a:pPr>
            <a:r>
              <a:rPr lang="en-US" b="1">
                <a:ea typeface="+mn-lt"/>
                <a:cs typeface="+mn-lt"/>
              </a:rPr>
              <a:t>RAM:</a:t>
            </a:r>
            <a:r>
              <a:rPr lang="en-US">
                <a:ea typeface="+mn-lt"/>
                <a:cs typeface="+mn-lt"/>
              </a:rPr>
              <a:t> 4 GB</a:t>
            </a:r>
            <a:endParaRPr lang="en-US">
              <a:ea typeface="Calibri"/>
              <a:cs typeface="Calibri"/>
            </a:endParaRPr>
          </a:p>
          <a:p>
            <a:pPr>
              <a:buClr>
                <a:srgbClr val="FFFFFF"/>
              </a:buClr>
            </a:pPr>
            <a:r>
              <a:rPr lang="en-US" b="1">
                <a:ea typeface="+mn-lt"/>
                <a:cs typeface="+mn-lt"/>
              </a:rPr>
              <a:t>Storage:</a:t>
            </a:r>
            <a:r>
              <a:rPr lang="en-US">
                <a:ea typeface="+mn-lt"/>
                <a:cs typeface="+mn-lt"/>
              </a:rPr>
              <a:t> 20 GB free disk space</a:t>
            </a:r>
            <a:endParaRPr lang="en-US">
              <a:ea typeface="Calibri"/>
              <a:cs typeface="Calibri"/>
            </a:endParaRPr>
          </a:p>
          <a:p>
            <a:pPr>
              <a:buClr>
                <a:srgbClr val="FFFFFF"/>
              </a:buClr>
            </a:pPr>
            <a:r>
              <a:rPr lang="en-US" b="1">
                <a:ea typeface="+mn-lt"/>
                <a:cs typeface="+mn-lt"/>
              </a:rPr>
              <a:t>Display:</a:t>
            </a:r>
            <a:r>
              <a:rPr lang="en-US">
                <a:ea typeface="+mn-lt"/>
                <a:cs typeface="+mn-lt"/>
              </a:rPr>
              <a:t> 1366 × 768 resolution monitor</a:t>
            </a:r>
            <a:endParaRPr lang="en-US">
              <a:ea typeface="Calibri"/>
              <a:cs typeface="Calibri"/>
            </a:endParaRPr>
          </a:p>
          <a:p>
            <a:pPr>
              <a:buClr>
                <a:srgbClr val="FFFFFF"/>
              </a:buClr>
            </a:pPr>
            <a:r>
              <a:rPr lang="en-US" b="1">
                <a:ea typeface="+mn-lt"/>
                <a:cs typeface="+mn-lt"/>
              </a:rPr>
              <a:t>Keyboard and Mouse</a:t>
            </a:r>
            <a:endParaRPr lang="en-US">
              <a:ea typeface="Calibri"/>
              <a:cs typeface="Calibri"/>
            </a:endParaRPr>
          </a:p>
          <a:p>
            <a:pPr>
              <a:buClr>
                <a:srgbClr val="FFFFFF"/>
              </a:buClr>
            </a:pPr>
            <a:r>
              <a:rPr lang="en-US" b="1">
                <a:ea typeface="+mn-lt"/>
                <a:cs typeface="+mn-lt"/>
              </a:rPr>
              <a:t>Internet Connection</a:t>
            </a:r>
            <a:r>
              <a:rPr lang="en-US">
                <a:ea typeface="+mn-lt"/>
                <a:cs typeface="+mn-lt"/>
              </a:rPr>
              <a:t> (for installing dependencies and updates)</a:t>
            </a:r>
            <a:endParaRPr lang="en-US"/>
          </a:p>
          <a:p>
            <a:pPr>
              <a:buClr>
                <a:srgbClr val="FFFFFF"/>
              </a:buClr>
            </a:pPr>
            <a:endParaRPr lang="en-US" dirty="0">
              <a:ea typeface="Calibri"/>
              <a:cs typeface="Calibri"/>
            </a:endParaRPr>
          </a:p>
        </p:txBody>
      </p:sp>
    </p:spTree>
    <p:extLst>
      <p:ext uri="{BB962C8B-B14F-4D97-AF65-F5344CB8AC3E}">
        <p14:creationId xmlns:p14="http://schemas.microsoft.com/office/powerpoint/2010/main" val="4038596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00C1-8701-1C73-5B25-1B5C157A6A94}"/>
              </a:ext>
            </a:extLst>
          </p:cNvPr>
          <p:cNvSpPr>
            <a:spLocks noGrp="1"/>
          </p:cNvSpPr>
          <p:nvPr>
            <p:ph type="title"/>
          </p:nvPr>
        </p:nvSpPr>
        <p:spPr/>
        <p:txBody>
          <a:bodyPr/>
          <a:lstStyle/>
          <a:p>
            <a:r>
              <a:rPr lang="en-US" dirty="0">
                <a:ea typeface="Calibri Light"/>
                <a:cs typeface="Calibri Light"/>
              </a:rPr>
              <a:t>Software </a:t>
            </a:r>
            <a:r>
              <a:rPr lang="en-US">
                <a:ea typeface="Calibri Light"/>
                <a:cs typeface="Calibri Light"/>
              </a:rPr>
              <a:t>requirements</a:t>
            </a:r>
            <a:endParaRPr lang="en-US"/>
          </a:p>
        </p:txBody>
      </p:sp>
      <p:sp>
        <p:nvSpPr>
          <p:cNvPr id="3" name="Content Placeholder 2">
            <a:extLst>
              <a:ext uri="{FF2B5EF4-FFF2-40B4-BE49-F238E27FC236}">
                <a16:creationId xmlns:a16="http://schemas.microsoft.com/office/drawing/2014/main" id="{E3DD5DCC-73B6-0CB9-C58E-65524D188806}"/>
              </a:ext>
            </a:extLst>
          </p:cNvPr>
          <p:cNvSpPr>
            <a:spLocks noGrp="1"/>
          </p:cNvSpPr>
          <p:nvPr>
            <p:ph idx="1"/>
          </p:nvPr>
        </p:nvSpPr>
        <p:spPr/>
        <p:txBody>
          <a:bodyPr>
            <a:normAutofit fontScale="92500" lnSpcReduction="20000"/>
          </a:bodyPr>
          <a:lstStyle/>
          <a:p>
            <a:r>
              <a:rPr lang="en-US" b="1"/>
              <a:t>Development Tools</a:t>
            </a:r>
            <a:endParaRPr lang="en-US" b="1">
              <a:ea typeface="Calibri" panose="020F0502020204030204"/>
              <a:cs typeface="Calibri" panose="020F0502020204030204"/>
            </a:endParaRPr>
          </a:p>
          <a:p>
            <a:pPr>
              <a:buClr>
                <a:srgbClr val="FFFFFF"/>
              </a:buClr>
            </a:pPr>
            <a:r>
              <a:rPr lang="en-US" b="1">
                <a:ea typeface="+mn-lt"/>
                <a:cs typeface="+mn-lt"/>
              </a:rPr>
              <a:t>Visual Studio Code (VS Code)</a:t>
            </a:r>
            <a:r>
              <a:rPr lang="en-US">
                <a:ea typeface="+mn-lt"/>
                <a:cs typeface="+mn-lt"/>
              </a:rPr>
              <a:t> – Code editor</a:t>
            </a:r>
            <a:endParaRPr lang="en-US">
              <a:ea typeface="Calibri"/>
              <a:cs typeface="Calibri"/>
            </a:endParaRPr>
          </a:p>
          <a:p>
            <a:pPr>
              <a:buClr>
                <a:srgbClr val="FFFFFF"/>
              </a:buClr>
            </a:pPr>
            <a:r>
              <a:rPr lang="en-US" b="1">
                <a:ea typeface="+mn-lt"/>
                <a:cs typeface="+mn-lt"/>
              </a:rPr>
              <a:t>Java Development Kit (JDK 17 or above)</a:t>
            </a:r>
            <a:r>
              <a:rPr lang="en-US">
                <a:ea typeface="+mn-lt"/>
                <a:cs typeface="+mn-lt"/>
              </a:rPr>
              <a:t> – Backend development</a:t>
            </a:r>
            <a:endParaRPr lang="en-US">
              <a:ea typeface="Calibri"/>
              <a:cs typeface="Calibri"/>
            </a:endParaRPr>
          </a:p>
          <a:p>
            <a:pPr>
              <a:buClr>
                <a:srgbClr val="FFFFFF"/>
              </a:buClr>
            </a:pPr>
            <a:r>
              <a:rPr lang="en-US" b="1" dirty="0">
                <a:ea typeface="+mn-lt"/>
                <a:cs typeface="+mn-lt"/>
              </a:rPr>
              <a:t>Node.js and </a:t>
            </a:r>
            <a:r>
              <a:rPr lang="en-US" b="1" dirty="0" err="1">
                <a:ea typeface="+mn-lt"/>
                <a:cs typeface="+mn-lt"/>
              </a:rPr>
              <a:t>npm</a:t>
            </a:r>
            <a:r>
              <a:rPr lang="en-US" dirty="0">
                <a:ea typeface="+mn-lt"/>
                <a:cs typeface="+mn-lt"/>
              </a:rPr>
              <a:t> – React application development</a:t>
            </a:r>
            <a:endParaRPr lang="en-US" dirty="0">
              <a:ea typeface="Calibri"/>
              <a:cs typeface="Calibri"/>
            </a:endParaRPr>
          </a:p>
          <a:p>
            <a:pPr>
              <a:buClr>
                <a:srgbClr val="FFFFFF"/>
              </a:buClr>
            </a:pPr>
            <a:r>
              <a:rPr lang="en-US" b="1">
                <a:ea typeface="+mn-lt"/>
                <a:cs typeface="+mn-lt"/>
              </a:rPr>
              <a:t>React.js</a:t>
            </a:r>
            <a:r>
              <a:rPr lang="en-US">
                <a:ea typeface="+mn-lt"/>
                <a:cs typeface="+mn-lt"/>
              </a:rPr>
              <a:t> – Frontend framework</a:t>
            </a:r>
            <a:endParaRPr lang="en-US">
              <a:ea typeface="Calibri"/>
              <a:cs typeface="Calibri"/>
            </a:endParaRPr>
          </a:p>
          <a:p>
            <a:pPr>
              <a:buClr>
                <a:srgbClr val="FFFFFF"/>
              </a:buClr>
            </a:pPr>
            <a:r>
              <a:rPr lang="en-US" b="1"/>
              <a:t>Programming Languages</a:t>
            </a:r>
            <a:endParaRPr lang="en-US" b="1">
              <a:ea typeface="Calibri"/>
              <a:cs typeface="Calibri"/>
            </a:endParaRPr>
          </a:p>
          <a:p>
            <a:pPr>
              <a:buClr>
                <a:srgbClr val="FFFFFF"/>
              </a:buClr>
            </a:pPr>
            <a:r>
              <a:rPr lang="en-US">
                <a:ea typeface="+mn-lt"/>
                <a:cs typeface="+mn-lt"/>
              </a:rPr>
              <a:t>Java</a:t>
            </a:r>
            <a:endParaRPr lang="en-US">
              <a:ea typeface="Calibri"/>
              <a:cs typeface="Calibri"/>
            </a:endParaRPr>
          </a:p>
          <a:p>
            <a:pPr>
              <a:buClr>
                <a:srgbClr val="FFFFFF"/>
              </a:buClr>
            </a:pPr>
            <a:r>
              <a:rPr lang="en-US">
                <a:ea typeface="+mn-lt"/>
                <a:cs typeface="+mn-lt"/>
              </a:rPr>
              <a:t>JavaScript</a:t>
            </a:r>
            <a:endParaRPr lang="en-US">
              <a:ea typeface="Calibri"/>
              <a:cs typeface="Calibri"/>
            </a:endParaRPr>
          </a:p>
          <a:p>
            <a:pPr>
              <a:buClr>
                <a:srgbClr val="FFFFFF"/>
              </a:buClr>
            </a:pPr>
            <a:r>
              <a:rPr lang="en-US">
                <a:ea typeface="+mn-lt"/>
                <a:cs typeface="+mn-lt"/>
              </a:rPr>
              <a:t>HTML</a:t>
            </a:r>
            <a:endParaRPr lang="en-US">
              <a:ea typeface="Calibri"/>
              <a:cs typeface="Calibri"/>
            </a:endParaRPr>
          </a:p>
          <a:p>
            <a:pPr>
              <a:buClr>
                <a:srgbClr val="FFFFFF"/>
              </a:buClr>
            </a:pPr>
            <a:r>
              <a:rPr lang="en-US">
                <a:ea typeface="+mn-lt"/>
                <a:cs typeface="+mn-lt"/>
              </a:rPr>
              <a:t>CSS</a:t>
            </a:r>
            <a:endParaRPr lang="en-US">
              <a:ea typeface="Calibri"/>
              <a:cs typeface="Calibri"/>
            </a:endParaRPr>
          </a:p>
          <a:p>
            <a:pPr>
              <a:buClr>
                <a:srgbClr val="FFFFFF"/>
              </a:buClr>
            </a:pPr>
            <a:endParaRPr lang="en-US" dirty="0">
              <a:ea typeface="Calibri"/>
              <a:cs typeface="Calibri"/>
            </a:endParaRPr>
          </a:p>
        </p:txBody>
      </p:sp>
    </p:spTree>
    <p:extLst>
      <p:ext uri="{BB962C8B-B14F-4D97-AF65-F5344CB8AC3E}">
        <p14:creationId xmlns:p14="http://schemas.microsoft.com/office/powerpoint/2010/main" val="4274735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B70532-9AAF-FE29-2C49-9C17A816141A}"/>
              </a:ext>
            </a:extLst>
          </p:cNvPr>
          <p:cNvSpPr txBox="1"/>
          <p:nvPr/>
        </p:nvSpPr>
        <p:spPr>
          <a:xfrm>
            <a:off x="346926" y="247804"/>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ea typeface="Calibri"/>
                <a:cs typeface="Calibri"/>
              </a:rPr>
              <a:t>METHODOLOGY</a:t>
            </a:r>
            <a:endParaRPr lang="en-US" sz="2400" dirty="0">
              <a:ea typeface="Calibri"/>
              <a:cs typeface="Calibri"/>
            </a:endParaRPr>
          </a:p>
        </p:txBody>
      </p:sp>
      <p:sp>
        <p:nvSpPr>
          <p:cNvPr id="4" name="TextBox 3">
            <a:extLst>
              <a:ext uri="{FF2B5EF4-FFF2-40B4-BE49-F238E27FC236}">
                <a16:creationId xmlns:a16="http://schemas.microsoft.com/office/drawing/2014/main" id="{7848715B-7E5D-0FD5-2B8B-08889AC58713}"/>
              </a:ext>
            </a:extLst>
          </p:cNvPr>
          <p:cNvSpPr txBox="1"/>
          <p:nvPr/>
        </p:nvSpPr>
        <p:spPr>
          <a:xfrm>
            <a:off x="173749" y="1275623"/>
            <a:ext cx="546228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Step 1: Data Collection</a:t>
            </a:r>
            <a:endParaRPr lang="en-US" b="1">
              <a:ea typeface="Calibri"/>
              <a:cs typeface="Calibri"/>
            </a:endParaRPr>
          </a:p>
          <a:p>
            <a:pPr marL="285750" indent="-285750">
              <a:buFont typeface="Arial"/>
              <a:buChar char="•"/>
            </a:pPr>
            <a:r>
              <a:rPr lang="en-US">
                <a:ea typeface="+mn-lt"/>
                <a:cs typeface="+mn-lt"/>
              </a:rPr>
              <a:t>Collect details of courses, subjects, faculty members, classrooms, and available time slots.</a:t>
            </a:r>
            <a:endParaRPr lang="en-US">
              <a:ea typeface="Calibri"/>
              <a:cs typeface="Calibri"/>
            </a:endParaRPr>
          </a:p>
          <a:p>
            <a:pPr marL="285750" indent="-285750">
              <a:buFont typeface="Arial"/>
              <a:buChar char="•"/>
            </a:pPr>
            <a:r>
              <a:rPr lang="en-US">
                <a:ea typeface="+mn-lt"/>
                <a:cs typeface="+mn-lt"/>
              </a:rPr>
              <a:t>Store the information in the system database.</a:t>
            </a:r>
            <a:endParaRPr lang="en-US">
              <a:ea typeface="Calibri"/>
              <a:cs typeface="Calibri"/>
            </a:endParaRPr>
          </a:p>
          <a:p>
            <a:r>
              <a:rPr lang="en-US" b="1"/>
              <a:t>Step 2: Constraint Definition</a:t>
            </a:r>
            <a:endParaRPr lang="en-US" b="1">
              <a:ea typeface="Calibri"/>
              <a:cs typeface="Calibri"/>
            </a:endParaRPr>
          </a:p>
          <a:p>
            <a:pPr marL="285750" indent="-285750">
              <a:buFont typeface="Arial"/>
              <a:buChar char="•"/>
            </a:pPr>
            <a:r>
              <a:rPr lang="en-US">
                <a:ea typeface="+mn-lt"/>
                <a:cs typeface="+mn-lt"/>
              </a:rPr>
              <a:t>Define scheduling rules such as faculty availability, classroom capacity, subject hours, and department requirements.</a:t>
            </a:r>
            <a:endParaRPr lang="en-US">
              <a:ea typeface="Calibri"/>
              <a:cs typeface="Calibri"/>
            </a:endParaRPr>
          </a:p>
          <a:p>
            <a:pPr marL="285750" indent="-285750">
              <a:buFont typeface="Arial"/>
              <a:buChar char="•"/>
            </a:pPr>
            <a:r>
              <a:rPr lang="en-US">
                <a:ea typeface="+mn-lt"/>
                <a:cs typeface="+mn-lt"/>
              </a:rPr>
              <a:t>Ensure that no faculty member or classroom is assigned to multiple classes at the same time.</a:t>
            </a:r>
            <a:endParaRPr lang="en-US">
              <a:ea typeface="Calibri"/>
              <a:cs typeface="Calibri"/>
            </a:endParaRPr>
          </a:p>
          <a:p>
            <a:r>
              <a:rPr lang="en-US" b="1"/>
              <a:t>Step 3: Timetable Generation</a:t>
            </a:r>
            <a:endParaRPr lang="en-US" b="1">
              <a:ea typeface="Calibri"/>
              <a:cs typeface="Calibri"/>
            </a:endParaRPr>
          </a:p>
          <a:p>
            <a:pPr marL="285750" indent="-285750">
              <a:buFont typeface="Arial"/>
              <a:buChar char="•"/>
            </a:pPr>
            <a:r>
              <a:rPr lang="en-US">
                <a:ea typeface="+mn-lt"/>
                <a:cs typeface="+mn-lt"/>
              </a:rPr>
              <a:t>The system processes the collected data and constraints.</a:t>
            </a:r>
            <a:endParaRPr lang="en-US">
              <a:ea typeface="Calibri"/>
              <a:cs typeface="Calibri"/>
            </a:endParaRPr>
          </a:p>
          <a:p>
            <a:pPr marL="285750" indent="-285750">
              <a:buFont typeface="Arial"/>
              <a:buChar char="•"/>
            </a:pPr>
            <a:r>
              <a:rPr lang="en-US">
                <a:ea typeface="+mn-lt"/>
                <a:cs typeface="+mn-lt"/>
              </a:rPr>
              <a:t>It automatically assigns subjects, faculty, classrooms, and time slots to generate a conflict-free timetable.</a:t>
            </a:r>
            <a:endParaRPr lang="en-US"/>
          </a:p>
          <a:p>
            <a:pPr algn="l"/>
            <a:endParaRPr lang="en-US" dirty="0">
              <a:ea typeface="Calibri"/>
              <a:cs typeface="Calibri"/>
            </a:endParaRPr>
          </a:p>
        </p:txBody>
      </p:sp>
      <p:sp>
        <p:nvSpPr>
          <p:cNvPr id="6" name="TextBox 5">
            <a:extLst>
              <a:ext uri="{FF2B5EF4-FFF2-40B4-BE49-F238E27FC236}">
                <a16:creationId xmlns:a16="http://schemas.microsoft.com/office/drawing/2014/main" id="{EB3B2011-F494-15B0-BDC2-C9EFE1D3C8DB}"/>
              </a:ext>
            </a:extLst>
          </p:cNvPr>
          <p:cNvSpPr txBox="1"/>
          <p:nvPr/>
        </p:nvSpPr>
        <p:spPr>
          <a:xfrm>
            <a:off x="6098481" y="1279245"/>
            <a:ext cx="587912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Step 4: Validation</a:t>
            </a:r>
            <a:endParaRPr lang="en-US" b="1">
              <a:ea typeface="Calibri"/>
              <a:cs typeface="Calibri"/>
            </a:endParaRPr>
          </a:p>
          <a:p>
            <a:pPr marL="285750" indent="-285750">
              <a:buFont typeface="Arial"/>
              <a:buChar char="•"/>
            </a:pPr>
            <a:r>
              <a:rPr lang="en-US">
                <a:ea typeface="+mn-lt"/>
                <a:cs typeface="+mn-lt"/>
              </a:rPr>
              <a:t>Check the generated timetable for scheduling conflicts and rule violations.</a:t>
            </a:r>
            <a:endParaRPr lang="en-US">
              <a:ea typeface="Calibri"/>
              <a:cs typeface="Calibri"/>
            </a:endParaRPr>
          </a:p>
          <a:p>
            <a:pPr marL="285750" indent="-285750">
              <a:buFont typeface="Arial"/>
              <a:buChar char="•"/>
            </a:pPr>
            <a:r>
              <a:rPr lang="en-US">
                <a:ea typeface="+mn-lt"/>
                <a:cs typeface="+mn-lt"/>
              </a:rPr>
              <a:t>Verify that all subjects receive the required number of sessions.</a:t>
            </a:r>
            <a:endParaRPr lang="en-US">
              <a:ea typeface="Calibri"/>
              <a:cs typeface="Calibri"/>
            </a:endParaRPr>
          </a:p>
          <a:p>
            <a:r>
              <a:rPr lang="en-US" b="1"/>
              <a:t>Step 5: Timetable Display</a:t>
            </a:r>
            <a:endParaRPr lang="en-US" b="1">
              <a:ea typeface="Calibri"/>
              <a:cs typeface="Calibri"/>
            </a:endParaRPr>
          </a:p>
          <a:p>
            <a:pPr marL="285750" indent="-285750">
              <a:buFont typeface="Arial"/>
              <a:buChar char="•"/>
            </a:pPr>
            <a:r>
              <a:rPr lang="en-US">
                <a:ea typeface="+mn-lt"/>
                <a:cs typeface="+mn-lt"/>
              </a:rPr>
              <a:t>Display the generated timetable through the React-based user interface.</a:t>
            </a:r>
            <a:endParaRPr lang="en-US">
              <a:ea typeface="Calibri"/>
              <a:cs typeface="Calibri"/>
            </a:endParaRPr>
          </a:p>
          <a:p>
            <a:pPr marL="285750" indent="-285750">
              <a:buFont typeface="Arial"/>
              <a:buChar char="•"/>
            </a:pPr>
            <a:r>
              <a:rPr lang="en-US">
                <a:ea typeface="+mn-lt"/>
                <a:cs typeface="+mn-lt"/>
              </a:rPr>
              <a:t>Allow users to view and manage schedules easily.</a:t>
            </a:r>
            <a:endParaRPr lang="en-US">
              <a:ea typeface="Calibri"/>
              <a:cs typeface="Calibri"/>
            </a:endParaRPr>
          </a:p>
          <a:p>
            <a:r>
              <a:rPr lang="en-US" b="1"/>
              <a:t>Step 6: Modification and Updates</a:t>
            </a:r>
            <a:endParaRPr lang="en-US" b="1">
              <a:ea typeface="Calibri"/>
              <a:cs typeface="Calibri"/>
            </a:endParaRPr>
          </a:p>
          <a:p>
            <a:pPr marL="285750" indent="-285750">
              <a:buFont typeface="Arial"/>
              <a:buChar char="•"/>
            </a:pPr>
            <a:r>
              <a:rPr lang="en-US" dirty="0">
                <a:ea typeface="+mn-lt"/>
                <a:cs typeface="+mn-lt"/>
              </a:rPr>
              <a:t>Enable administrators to make changes when required.</a:t>
            </a:r>
            <a:endParaRPr lang="en-US">
              <a:ea typeface="Calibri"/>
              <a:cs typeface="Calibri"/>
            </a:endParaRPr>
          </a:p>
          <a:p>
            <a:pPr marL="285750" indent="-285750">
              <a:buFont typeface="Arial"/>
              <a:buChar char="•"/>
            </a:pPr>
            <a:r>
              <a:rPr lang="en-US">
                <a:ea typeface="+mn-lt"/>
                <a:cs typeface="+mn-lt"/>
              </a:rPr>
              <a:t>Regenerate the timetable after updating data or constraints.</a:t>
            </a:r>
            <a:endParaRPr lang="en-US">
              <a:ea typeface="Calibri"/>
              <a:cs typeface="Calibri"/>
            </a:endParaRPr>
          </a:p>
          <a:p>
            <a:r>
              <a:rPr lang="en-US" b="1"/>
              <a:t>Step 7: Final Output</a:t>
            </a:r>
            <a:endParaRPr lang="en-US" b="1">
              <a:ea typeface="Calibri"/>
              <a:cs typeface="Calibri"/>
            </a:endParaRPr>
          </a:p>
          <a:p>
            <a:pPr marL="285750" indent="-285750">
              <a:buFont typeface="Arial"/>
              <a:buChar char="•"/>
            </a:pPr>
            <a:r>
              <a:rPr lang="en-US" dirty="0">
                <a:ea typeface="+mn-lt"/>
                <a:cs typeface="+mn-lt"/>
              </a:rPr>
              <a:t>Produce an optimized and accurate timetable for students, faculty, and administrators.</a:t>
            </a:r>
            <a:endParaRPr lang="en-US" dirty="0">
              <a:ea typeface="Calibri"/>
              <a:cs typeface="Calibri"/>
            </a:endParaRPr>
          </a:p>
        </p:txBody>
      </p:sp>
    </p:spTree>
    <p:extLst>
      <p:ext uri="{BB962C8B-B14F-4D97-AF65-F5344CB8AC3E}">
        <p14:creationId xmlns:p14="http://schemas.microsoft.com/office/powerpoint/2010/main" val="3500379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6A6A1-9CED-1750-33D8-18984913EE91}"/>
              </a:ext>
            </a:extLst>
          </p:cNvPr>
          <p:cNvSpPr>
            <a:spLocks noGrp="1"/>
          </p:cNvSpPr>
          <p:nvPr>
            <p:ph type="title"/>
          </p:nvPr>
        </p:nvSpPr>
        <p:spPr/>
        <p:txBody>
          <a:bodyPr/>
          <a:lstStyle/>
          <a:p>
            <a:r>
              <a:rPr lang="en-US">
                <a:ea typeface="Calibri Light"/>
                <a:cs typeface="Calibri Light"/>
              </a:rPr>
              <a:t>Existing system</a:t>
            </a:r>
            <a:endParaRPr lang="en-US"/>
          </a:p>
        </p:txBody>
      </p:sp>
      <p:sp>
        <p:nvSpPr>
          <p:cNvPr id="3" name="Content Placeholder 2">
            <a:extLst>
              <a:ext uri="{FF2B5EF4-FFF2-40B4-BE49-F238E27FC236}">
                <a16:creationId xmlns:a16="http://schemas.microsoft.com/office/drawing/2014/main" id="{330B899F-7757-D4D8-C51C-3FB538568EDB}"/>
              </a:ext>
            </a:extLst>
          </p:cNvPr>
          <p:cNvSpPr>
            <a:spLocks noGrp="1"/>
          </p:cNvSpPr>
          <p:nvPr>
            <p:ph idx="1"/>
          </p:nvPr>
        </p:nvSpPr>
        <p:spPr>
          <a:xfrm>
            <a:off x="685801" y="1696590"/>
            <a:ext cx="10131425" cy="4551810"/>
          </a:xfrm>
        </p:spPr>
        <p:txBody>
          <a:bodyPr>
            <a:normAutofit/>
          </a:bodyPr>
          <a:lstStyle/>
          <a:p>
            <a:pPr marL="0" indent="0">
              <a:buNone/>
            </a:pPr>
            <a:r>
              <a:rPr lang="en-US" dirty="0">
                <a:latin typeface="-webkit-standard"/>
              </a:rPr>
              <a:t>The existing timetable scheduling process in many universities is performed manually using spreadsheets, documents, or paper-based methods. Administrators create timetables by considering faculty availability, classroom allocation, and course schedules, which requires significant time and effort.</a:t>
            </a:r>
          </a:p>
          <a:p>
            <a:pPr>
              <a:buNone/>
            </a:pPr>
            <a:r>
              <a:rPr lang="en-US" b="1"/>
              <a:t>Limitations of the Existing System</a:t>
            </a:r>
            <a:endParaRPr lang="en-US" b="1">
              <a:ea typeface="Calibri"/>
              <a:cs typeface="Calibri"/>
            </a:endParaRPr>
          </a:p>
          <a:p>
            <a:pPr>
              <a:buClr>
                <a:srgbClr val="FFFFFF"/>
              </a:buClr>
            </a:pPr>
            <a:r>
              <a:rPr lang="en-US">
                <a:ea typeface="+mn-lt"/>
                <a:cs typeface="+mn-lt"/>
              </a:rPr>
              <a:t>Time-consuming timetable preparation.</a:t>
            </a:r>
            <a:endParaRPr lang="en-US">
              <a:ea typeface="Calibri"/>
              <a:cs typeface="Calibri"/>
            </a:endParaRPr>
          </a:p>
          <a:p>
            <a:pPr>
              <a:buClr>
                <a:srgbClr val="FFFFFF"/>
              </a:buClr>
            </a:pPr>
            <a:r>
              <a:rPr lang="en-US">
                <a:ea typeface="+mn-lt"/>
                <a:cs typeface="+mn-lt"/>
              </a:rPr>
              <a:t>High chances of scheduling conflicts.</a:t>
            </a:r>
            <a:endParaRPr lang="en-US">
              <a:ea typeface="Calibri"/>
              <a:cs typeface="Calibri"/>
            </a:endParaRPr>
          </a:p>
          <a:p>
            <a:pPr>
              <a:buClr>
                <a:srgbClr val="FFFFFF"/>
              </a:buClr>
            </a:pPr>
            <a:r>
              <a:rPr lang="en-US">
                <a:ea typeface="+mn-lt"/>
                <a:cs typeface="+mn-lt"/>
              </a:rPr>
              <a:t>Difficult to manage faculty and classroom availability.</a:t>
            </a:r>
            <a:endParaRPr lang="en-US">
              <a:ea typeface="Calibri"/>
              <a:cs typeface="Calibri"/>
            </a:endParaRPr>
          </a:p>
          <a:p>
            <a:pPr>
              <a:buClr>
                <a:srgbClr val="FFFFFF"/>
              </a:buClr>
            </a:pPr>
            <a:r>
              <a:rPr lang="en-US">
                <a:ea typeface="+mn-lt"/>
                <a:cs typeface="+mn-lt"/>
              </a:rPr>
              <a:t>Frequent manual errors and inconsistencies.</a:t>
            </a:r>
            <a:endParaRPr lang="en-US">
              <a:ea typeface="Calibri"/>
              <a:cs typeface="Calibri"/>
            </a:endParaRPr>
          </a:p>
          <a:p>
            <a:pPr>
              <a:buClr>
                <a:srgbClr val="FFFFFF"/>
              </a:buClr>
            </a:pPr>
            <a:r>
              <a:rPr lang="en-US">
                <a:ea typeface="+mn-lt"/>
                <a:cs typeface="+mn-lt"/>
              </a:rPr>
              <a:t>Limited flexibility for modifications and updates.</a:t>
            </a:r>
            <a:endParaRPr lang="en-US">
              <a:ea typeface="Calibri"/>
              <a:cs typeface="Calibri"/>
            </a:endParaRPr>
          </a:p>
          <a:p>
            <a:pPr>
              <a:buClr>
                <a:srgbClr val="FFFFFF"/>
              </a:buClr>
            </a:pPr>
            <a:r>
              <a:rPr lang="en-US" dirty="0">
                <a:ea typeface="+mn-lt"/>
                <a:cs typeface="+mn-lt"/>
              </a:rPr>
              <a:t>Inefficient utilization of resources.</a:t>
            </a:r>
            <a:endParaRPr lang="en-US" dirty="0">
              <a:ea typeface="Calibri"/>
              <a:cs typeface="Calibri"/>
            </a:endParaRPr>
          </a:p>
          <a:p>
            <a:pPr>
              <a:buClr>
                <a:srgbClr val="FFFFFF"/>
              </a:buClr>
            </a:pPr>
            <a:r>
              <a:rPr lang="en-US">
                <a:ea typeface="+mn-lt"/>
                <a:cs typeface="+mn-lt"/>
              </a:rPr>
              <a:t>Increased administrative workload.</a:t>
            </a:r>
            <a:endParaRPr lang="en-US"/>
          </a:p>
          <a:p>
            <a:pPr marL="0" indent="0">
              <a:buNone/>
            </a:pPr>
            <a:endParaRPr lang="en-US" dirty="0">
              <a:latin typeface="-webkit-standard"/>
              <a:ea typeface="Calibri" panose="020F0502020204030204"/>
              <a:cs typeface="Calibri" panose="020F0502020204030204"/>
            </a:endParaRPr>
          </a:p>
        </p:txBody>
      </p:sp>
    </p:spTree>
    <p:extLst>
      <p:ext uri="{BB962C8B-B14F-4D97-AF65-F5344CB8AC3E}">
        <p14:creationId xmlns:p14="http://schemas.microsoft.com/office/powerpoint/2010/main" val="3247614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C668FA-2417-47B5-B454-2D55FC17F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7FEBA57-8992-46BB-BCF0-5A83FE8E01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Rectangle 14">
            <a:extLst>
              <a:ext uri="{FF2B5EF4-FFF2-40B4-BE49-F238E27FC236}">
                <a16:creationId xmlns:a16="http://schemas.microsoft.com/office/drawing/2014/main" id="{2B4CDDF6-55C3-415A-8D8B-7E03C3D61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iagram of a system&#10;&#10;AI-generated content may be incorrect.">
            <a:extLst>
              <a:ext uri="{FF2B5EF4-FFF2-40B4-BE49-F238E27FC236}">
                <a16:creationId xmlns:a16="http://schemas.microsoft.com/office/drawing/2014/main" id="{38901827-B95D-5FBA-47A0-B86D9539A303}"/>
              </a:ext>
            </a:extLst>
          </p:cNvPr>
          <p:cNvPicPr>
            <a:picLocks noChangeAspect="1"/>
          </p:cNvPicPr>
          <p:nvPr/>
        </p:nvPicPr>
        <p:blipFill>
          <a:blip r:embed="rId3"/>
          <a:stretch>
            <a:fillRect/>
          </a:stretch>
        </p:blipFill>
        <p:spPr>
          <a:xfrm>
            <a:off x="2155401" y="800007"/>
            <a:ext cx="7866843" cy="5251118"/>
          </a:xfrm>
          <a:prstGeom prst="rect">
            <a:avLst/>
          </a:prstGeom>
        </p:spPr>
      </p:pic>
    </p:spTree>
    <p:extLst>
      <p:ext uri="{BB962C8B-B14F-4D97-AF65-F5344CB8AC3E}">
        <p14:creationId xmlns:p14="http://schemas.microsoft.com/office/powerpoint/2010/main" val="425560228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7E01B-F9DA-C31F-BCCC-AF683618DBFC}"/>
              </a:ext>
            </a:extLst>
          </p:cNvPr>
          <p:cNvSpPr>
            <a:spLocks noGrp="1"/>
          </p:cNvSpPr>
          <p:nvPr>
            <p:ph type="title"/>
          </p:nvPr>
        </p:nvSpPr>
        <p:spPr>
          <a:xfrm>
            <a:off x="685801" y="609600"/>
            <a:ext cx="10131425" cy="1022514"/>
          </a:xfrm>
        </p:spPr>
        <p:txBody>
          <a:bodyPr/>
          <a:lstStyle/>
          <a:p>
            <a:r>
              <a:rPr lang="en-US">
                <a:ea typeface="Calibri Light"/>
                <a:cs typeface="Calibri Light"/>
              </a:rPr>
              <a:t>Proposed system</a:t>
            </a:r>
            <a:endParaRPr lang="en-US"/>
          </a:p>
        </p:txBody>
      </p:sp>
      <p:sp>
        <p:nvSpPr>
          <p:cNvPr id="3" name="Content Placeholder 2">
            <a:extLst>
              <a:ext uri="{FF2B5EF4-FFF2-40B4-BE49-F238E27FC236}">
                <a16:creationId xmlns:a16="http://schemas.microsoft.com/office/drawing/2014/main" id="{0FB0CE23-7E45-ED0A-55DF-A3D2390411AF}"/>
              </a:ext>
            </a:extLst>
          </p:cNvPr>
          <p:cNvSpPr>
            <a:spLocks noGrp="1"/>
          </p:cNvSpPr>
          <p:nvPr>
            <p:ph idx="1"/>
          </p:nvPr>
        </p:nvSpPr>
        <p:spPr>
          <a:xfrm>
            <a:off x="667740" y="1408613"/>
            <a:ext cx="10249132" cy="5138725"/>
          </a:xfrm>
        </p:spPr>
        <p:txBody>
          <a:bodyPr vert="horz" lIns="91440" tIns="45720" rIns="91440" bIns="45720" rtlCol="0" anchor="ctr">
            <a:noAutofit/>
          </a:bodyPr>
          <a:lstStyle/>
          <a:p>
            <a:r>
              <a:rPr lang="en-US" sz="1700" dirty="0">
                <a:ea typeface="+mn-lt"/>
                <a:cs typeface="+mn-lt"/>
              </a:rPr>
              <a:t>The proposed University Timetable Generator is an automated web-based application developed using React.js for the frontend and Java for the backend., classroom allocation, subject requirements, and time-slot constraints. It minimizes manual effort, reduces scheduling errors, and allows easy modification and regeneration of timetables whenever required.</a:t>
            </a:r>
            <a:endParaRPr lang="en-US" sz="1700" dirty="0">
              <a:ea typeface="Calibri" panose="020F0502020204030204"/>
              <a:cs typeface="Calibri" panose="020F0502020204030204"/>
            </a:endParaRPr>
          </a:p>
          <a:p>
            <a:pPr>
              <a:buClr>
                <a:srgbClr val="FFFFFF"/>
              </a:buClr>
            </a:pPr>
            <a:r>
              <a:rPr lang="en-US" sz="1600" b="1"/>
              <a:t>Advantages of Proposed System</a:t>
            </a:r>
            <a:endParaRPr lang="en-US" sz="1600" b="1">
              <a:ea typeface="Calibri"/>
              <a:cs typeface="Calibri"/>
            </a:endParaRPr>
          </a:p>
          <a:p>
            <a:pPr>
              <a:buClr>
                <a:srgbClr val="FFFFFF"/>
              </a:buClr>
            </a:pPr>
            <a:r>
              <a:rPr lang="en-US" sz="1600">
                <a:ea typeface="+mn-lt"/>
                <a:cs typeface="+mn-lt"/>
              </a:rPr>
              <a:t>Automated timetable generation.</a:t>
            </a:r>
            <a:endParaRPr lang="en-US" sz="1600" dirty="0">
              <a:ea typeface="Calibri"/>
              <a:cs typeface="Calibri"/>
            </a:endParaRPr>
          </a:p>
          <a:p>
            <a:pPr>
              <a:buClr>
                <a:srgbClr val="FFFFFF"/>
              </a:buClr>
            </a:pPr>
            <a:r>
              <a:rPr lang="en-US" sz="1600" dirty="0">
                <a:ea typeface="+mn-lt"/>
                <a:cs typeface="+mn-lt"/>
              </a:rPr>
              <a:t>Eliminates scheduling conflicts.</a:t>
            </a:r>
            <a:endParaRPr lang="en-US" sz="1600" dirty="0">
              <a:ea typeface="Calibri"/>
              <a:cs typeface="Calibri"/>
            </a:endParaRPr>
          </a:p>
          <a:p>
            <a:pPr>
              <a:buClr>
                <a:srgbClr val="FFFFFF"/>
              </a:buClr>
            </a:pPr>
            <a:r>
              <a:rPr lang="en-US" sz="1600">
                <a:ea typeface="+mn-lt"/>
                <a:cs typeface="+mn-lt"/>
              </a:rPr>
              <a:t>Reduces manual workload.</a:t>
            </a:r>
            <a:endParaRPr lang="en-US" sz="1600" dirty="0">
              <a:ea typeface="Calibri"/>
              <a:cs typeface="Calibri"/>
            </a:endParaRPr>
          </a:p>
          <a:p>
            <a:pPr>
              <a:buClr>
                <a:srgbClr val="FFFFFF"/>
              </a:buClr>
            </a:pPr>
            <a:r>
              <a:rPr lang="en-US" sz="1600">
                <a:ea typeface="+mn-lt"/>
                <a:cs typeface="+mn-lt"/>
              </a:rPr>
              <a:t>Saves time and effort.</a:t>
            </a:r>
            <a:endParaRPr lang="en-US" sz="1600" dirty="0">
              <a:ea typeface="Calibri"/>
              <a:cs typeface="Calibri"/>
            </a:endParaRPr>
          </a:p>
          <a:p>
            <a:pPr>
              <a:buClr>
                <a:srgbClr val="FFFFFF"/>
              </a:buClr>
            </a:pPr>
            <a:r>
              <a:rPr lang="en-US" sz="1600" dirty="0">
                <a:ea typeface="+mn-lt"/>
                <a:cs typeface="+mn-lt"/>
              </a:rPr>
              <a:t>Efficient utilization of faculty and classrooms.</a:t>
            </a:r>
            <a:endParaRPr lang="en-US" sz="1600" dirty="0">
              <a:ea typeface="Calibri"/>
              <a:cs typeface="Calibri"/>
            </a:endParaRPr>
          </a:p>
          <a:p>
            <a:pPr>
              <a:buClr>
                <a:srgbClr val="FFFFFF"/>
              </a:buClr>
            </a:pPr>
            <a:r>
              <a:rPr lang="en-US" sz="1600">
                <a:ea typeface="+mn-lt"/>
                <a:cs typeface="+mn-lt"/>
              </a:rPr>
              <a:t>Easy timetable updates and modifications.</a:t>
            </a:r>
            <a:endParaRPr lang="en-US" sz="1600" dirty="0">
              <a:ea typeface="Calibri"/>
              <a:cs typeface="Calibri"/>
            </a:endParaRPr>
          </a:p>
          <a:p>
            <a:pPr>
              <a:buClr>
                <a:srgbClr val="FFFFFF"/>
              </a:buClr>
            </a:pPr>
            <a:r>
              <a:rPr lang="en-US" sz="1600">
                <a:ea typeface="+mn-lt"/>
                <a:cs typeface="+mn-lt"/>
              </a:rPr>
              <a:t>User-friendly web interface.</a:t>
            </a:r>
            <a:endParaRPr lang="en-US" sz="1600" dirty="0">
              <a:ea typeface="+mn-lt"/>
              <a:cs typeface="+mn-lt"/>
            </a:endParaRPr>
          </a:p>
          <a:p>
            <a:pPr>
              <a:buClr>
                <a:srgbClr val="FFFFFF"/>
              </a:buClr>
            </a:pPr>
            <a:r>
              <a:rPr lang="en-US" sz="1600">
                <a:ea typeface="+mn-lt"/>
                <a:cs typeface="+mn-lt"/>
              </a:rPr>
              <a:t>Improved accuracy and reliability.</a:t>
            </a:r>
            <a:endParaRPr lang="en-US" sz="1600">
              <a:ea typeface="Calibri"/>
              <a:cs typeface="Calibri"/>
            </a:endParaRPr>
          </a:p>
          <a:p>
            <a:pPr>
              <a:buClr>
                <a:srgbClr val="FFFFFF"/>
              </a:buClr>
            </a:pPr>
            <a:endParaRPr lang="en-US" sz="1600" dirty="0">
              <a:ea typeface="Calibri"/>
              <a:cs typeface="Calibri"/>
            </a:endParaRPr>
          </a:p>
        </p:txBody>
      </p:sp>
    </p:spTree>
    <p:extLst>
      <p:ext uri="{BB962C8B-B14F-4D97-AF65-F5344CB8AC3E}">
        <p14:creationId xmlns:p14="http://schemas.microsoft.com/office/powerpoint/2010/main" val="3762200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C668FA-2417-47B5-B454-2D55FC17F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7FEBA57-8992-46BB-BCF0-5A83FE8E01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 name="Rectangle 10">
            <a:extLst>
              <a:ext uri="{FF2B5EF4-FFF2-40B4-BE49-F238E27FC236}">
                <a16:creationId xmlns:a16="http://schemas.microsoft.com/office/drawing/2014/main" id="{2B4CDDF6-55C3-415A-8D8B-7E03C3D61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0AE506E7-399A-FA61-87E8-0B3AB4CA1CF5}"/>
              </a:ext>
            </a:extLst>
          </p:cNvPr>
          <p:cNvPicPr>
            <a:picLocks noChangeAspect="1"/>
          </p:cNvPicPr>
          <p:nvPr/>
        </p:nvPicPr>
        <p:blipFill>
          <a:blip r:embed="rId3"/>
          <a:stretch>
            <a:fillRect/>
          </a:stretch>
        </p:blipFill>
        <p:spPr>
          <a:xfrm>
            <a:off x="1554260" y="767793"/>
            <a:ext cx="8806255" cy="5287506"/>
          </a:xfrm>
          <a:prstGeom prst="rect">
            <a:avLst/>
          </a:prstGeom>
        </p:spPr>
      </p:pic>
    </p:spTree>
    <p:extLst>
      <p:ext uri="{BB962C8B-B14F-4D97-AF65-F5344CB8AC3E}">
        <p14:creationId xmlns:p14="http://schemas.microsoft.com/office/powerpoint/2010/main" val="805511237"/>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Celestial</vt:lpstr>
      <vt:lpstr>Automated University Timetable Generation System</vt:lpstr>
      <vt:lpstr>ABSTRACT</vt:lpstr>
      <vt:lpstr>Problem Statement</vt:lpstr>
      <vt:lpstr>Hardware requirements</vt:lpstr>
      <vt:lpstr>Software requirements</vt:lpstr>
      <vt:lpstr>PowerPoint Presentation</vt:lpstr>
      <vt:lpstr>Existing system</vt:lpstr>
      <vt:lpstr>PowerPoint Presentation</vt:lpstr>
      <vt:lpstr>Proposed system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177</cp:revision>
  <dcterms:created xsi:type="dcterms:W3CDTF">2026-05-31T08:59:21Z</dcterms:created>
  <dcterms:modified xsi:type="dcterms:W3CDTF">2026-05-31T10:00:40Z</dcterms:modified>
</cp:coreProperties>
</file>